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1" r:id="rId1"/>
    <p:sldMasterId id="2147483672" r:id="rId2"/>
  </p:sldMasterIdLst>
  <p:notesMasterIdLst>
    <p:notesMasterId r:id="rId18"/>
  </p:notesMasterIdLst>
  <p:sldIdLst>
    <p:sldId id="256" r:id="rId3"/>
    <p:sldId id="257" r:id="rId4"/>
    <p:sldId id="259" r:id="rId5"/>
    <p:sldId id="262" r:id="rId6"/>
    <p:sldId id="266" r:id="rId7"/>
    <p:sldId id="274" r:id="rId8"/>
    <p:sldId id="275" r:id="rId9"/>
    <p:sldId id="276" r:id="rId10"/>
    <p:sldId id="277" r:id="rId11"/>
    <p:sldId id="267" r:id="rId12"/>
    <p:sldId id="271" r:id="rId13"/>
    <p:sldId id="278" r:id="rId14"/>
    <p:sldId id="279" r:id="rId15"/>
    <p:sldId id="268" r:id="rId16"/>
    <p:sldId id="269" r:id="rId1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649"/>
    <p:restoredTop sz="94658"/>
  </p:normalViewPr>
  <p:slideViewPr>
    <p:cSldViewPr snapToGrid="0">
      <p:cViewPr varScale="1">
        <p:scale>
          <a:sx n="127" d="100"/>
          <a:sy n="127" d="100"/>
        </p:scale>
        <p:origin x="192" y="71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d2892cd140_5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g3d2892cd140_5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d2892cd140_5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g3d2892cd140_5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d2892cd140_5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g3d2892cd140_5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d2892cd140_5_2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" name="Google Shape;426;g3d2892cd140_5_2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3d2892cd140_5_3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7" name="Google Shape;497;g3d2892cd140_5_3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3d2892cd140_5_3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8" name="Google Shape;508;g3d2892cd140_5_3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608908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6">
          <a:extLst>
            <a:ext uri="{FF2B5EF4-FFF2-40B4-BE49-F238E27FC236}">
              <a16:creationId xmlns:a16="http://schemas.microsoft.com/office/drawing/2014/main" id="{8E9CEF19-C626-6FBF-D92C-8CBE817D2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3d2892cd140_5_339:notes">
            <a:extLst>
              <a:ext uri="{FF2B5EF4-FFF2-40B4-BE49-F238E27FC236}">
                <a16:creationId xmlns:a16="http://schemas.microsoft.com/office/drawing/2014/main" id="{DA5C7E11-820D-2AFD-6AB9-931432F853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8" name="Google Shape;508;g3d2892cd140_5_339:notes">
            <a:extLst>
              <a:ext uri="{FF2B5EF4-FFF2-40B4-BE49-F238E27FC236}">
                <a16:creationId xmlns:a16="http://schemas.microsoft.com/office/drawing/2014/main" id="{D1B9CFA3-FA40-ADB3-8CE6-32FDB109E9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576968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6">
          <a:extLst>
            <a:ext uri="{FF2B5EF4-FFF2-40B4-BE49-F238E27FC236}">
              <a16:creationId xmlns:a16="http://schemas.microsoft.com/office/drawing/2014/main" id="{50CE3C53-268A-03EE-ACA4-00C46FC59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3d2892cd140_5_339:notes">
            <a:extLst>
              <a:ext uri="{FF2B5EF4-FFF2-40B4-BE49-F238E27FC236}">
                <a16:creationId xmlns:a16="http://schemas.microsoft.com/office/drawing/2014/main" id="{FC68A3B3-519E-E598-DDA0-E4328162BC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8" name="Google Shape;508;g3d2892cd140_5_339:notes">
            <a:extLst>
              <a:ext uri="{FF2B5EF4-FFF2-40B4-BE49-F238E27FC236}">
                <a16:creationId xmlns:a16="http://schemas.microsoft.com/office/drawing/2014/main" id="{EDDEED48-3F5B-CFEC-5025-63766ED511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364034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6">
          <a:extLst>
            <a:ext uri="{FF2B5EF4-FFF2-40B4-BE49-F238E27FC236}">
              <a16:creationId xmlns:a16="http://schemas.microsoft.com/office/drawing/2014/main" id="{B54442FB-F68A-1B6E-9E96-76C5D5574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3d2892cd140_5_339:notes">
            <a:extLst>
              <a:ext uri="{FF2B5EF4-FFF2-40B4-BE49-F238E27FC236}">
                <a16:creationId xmlns:a16="http://schemas.microsoft.com/office/drawing/2014/main" id="{F5C7BB56-E1C4-4898-5E01-025346C3C0A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8" name="Google Shape;508;g3d2892cd140_5_339:notes">
            <a:extLst>
              <a:ext uri="{FF2B5EF4-FFF2-40B4-BE49-F238E27FC236}">
                <a16:creationId xmlns:a16="http://schemas.microsoft.com/office/drawing/2014/main" id="{103074B8-F763-9EEB-4D93-C04A1E3AB0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339902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3d2892cd140_5_3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8" name="Google Shape;508;g3d2892cd140_5_3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6">
          <a:extLst>
            <a:ext uri="{FF2B5EF4-FFF2-40B4-BE49-F238E27FC236}">
              <a16:creationId xmlns:a16="http://schemas.microsoft.com/office/drawing/2014/main" id="{7B36E1CC-CA62-0FB6-72FB-4DBA67163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3d2892cd140_5_339:notes">
            <a:extLst>
              <a:ext uri="{FF2B5EF4-FFF2-40B4-BE49-F238E27FC236}">
                <a16:creationId xmlns:a16="http://schemas.microsoft.com/office/drawing/2014/main" id="{01B423CB-23ED-3C52-DF1B-0FE816F409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8" name="Google Shape;508;g3d2892cd140_5_339:notes">
            <a:extLst>
              <a:ext uri="{FF2B5EF4-FFF2-40B4-BE49-F238E27FC236}">
                <a16:creationId xmlns:a16="http://schemas.microsoft.com/office/drawing/2014/main" id="{D6720D24-E215-6BB4-947E-40FF79AB79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774435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6">
          <a:extLst>
            <a:ext uri="{FF2B5EF4-FFF2-40B4-BE49-F238E27FC236}">
              <a16:creationId xmlns:a16="http://schemas.microsoft.com/office/drawing/2014/main" id="{051DF9CF-53BA-5390-FD4F-B3C7BD31D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3d2892cd140_5_339:notes">
            <a:extLst>
              <a:ext uri="{FF2B5EF4-FFF2-40B4-BE49-F238E27FC236}">
                <a16:creationId xmlns:a16="http://schemas.microsoft.com/office/drawing/2014/main" id="{0EA4A1F9-AAA2-F084-7C25-28160E64E1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8" name="Google Shape;508;g3d2892cd140_5_339:notes">
            <a:extLst>
              <a:ext uri="{FF2B5EF4-FFF2-40B4-BE49-F238E27FC236}">
                <a16:creationId xmlns:a16="http://schemas.microsoft.com/office/drawing/2014/main" id="{EE9D6008-1E8B-2AE6-CB14-30CE91EDC9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152778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3d2892cd140_5_3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4" name="Google Shape;544;g3d2892cd140_5_3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g3d2892cd140_5_3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5" name="Google Shape;555;g3d2892cd140_5_3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dt" idx="10"/>
          </p:nvPr>
        </p:nvSpPr>
        <p:spPr>
          <a:xfrm>
            <a:off x="342986" y="4767263"/>
            <a:ext cx="16005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ftr" idx="11"/>
          </p:nvPr>
        </p:nvSpPr>
        <p:spPr>
          <a:xfrm>
            <a:off x="2343736" y="4767263"/>
            <a:ext cx="2172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sldNum" idx="12"/>
          </p:nvPr>
        </p:nvSpPr>
        <p:spPr>
          <a:xfrm>
            <a:off x="4916130" y="4767263"/>
            <a:ext cx="16005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>
            <a:spLocks noGrp="1"/>
          </p:cNvSpPr>
          <p:nvPr>
            <p:ph type="title"/>
          </p:nvPr>
        </p:nvSpPr>
        <p:spPr>
          <a:xfrm>
            <a:off x="342986" y="205978"/>
            <a:ext cx="61737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6"/>
          <p:cNvSpPr txBox="1">
            <a:spLocks noGrp="1"/>
          </p:cNvSpPr>
          <p:nvPr>
            <p:ph type="body" idx="1"/>
          </p:nvPr>
        </p:nvSpPr>
        <p:spPr>
          <a:xfrm>
            <a:off x="342986" y="1200150"/>
            <a:ext cx="6173700" cy="3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marL="1371600" lvl="2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marL="2286000" lvl="4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marL="2743200" lvl="5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dt" idx="10"/>
          </p:nvPr>
        </p:nvSpPr>
        <p:spPr>
          <a:xfrm>
            <a:off x="342986" y="4767263"/>
            <a:ext cx="16005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ftr" idx="11"/>
          </p:nvPr>
        </p:nvSpPr>
        <p:spPr>
          <a:xfrm>
            <a:off x="2343736" y="4767263"/>
            <a:ext cx="2172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sldNum" idx="12"/>
          </p:nvPr>
        </p:nvSpPr>
        <p:spPr>
          <a:xfrm>
            <a:off x="4916130" y="4767263"/>
            <a:ext cx="16005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>
            <a:spLocks noGrp="1"/>
          </p:cNvSpPr>
          <p:nvPr>
            <p:ph type="title"/>
          </p:nvPr>
        </p:nvSpPr>
        <p:spPr>
          <a:xfrm>
            <a:off x="541870" y="3305175"/>
            <a:ext cx="5830800" cy="10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sz="3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7"/>
          <p:cNvSpPr txBox="1">
            <a:spLocks noGrp="1"/>
          </p:cNvSpPr>
          <p:nvPr>
            <p:ph type="body" idx="1"/>
          </p:nvPr>
        </p:nvSpPr>
        <p:spPr>
          <a:xfrm>
            <a:off x="541870" y="2180035"/>
            <a:ext cx="5830800" cy="11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5" name="Google Shape;75;p17"/>
          <p:cNvSpPr txBox="1">
            <a:spLocks noGrp="1"/>
          </p:cNvSpPr>
          <p:nvPr>
            <p:ph type="dt" idx="10"/>
          </p:nvPr>
        </p:nvSpPr>
        <p:spPr>
          <a:xfrm>
            <a:off x="342986" y="4767263"/>
            <a:ext cx="16005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ftr" idx="11"/>
          </p:nvPr>
        </p:nvSpPr>
        <p:spPr>
          <a:xfrm>
            <a:off x="2343736" y="4767263"/>
            <a:ext cx="2172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sldNum" idx="12"/>
          </p:nvPr>
        </p:nvSpPr>
        <p:spPr>
          <a:xfrm>
            <a:off x="4916130" y="4767263"/>
            <a:ext cx="16005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>
            <a:spLocks noGrp="1"/>
          </p:cNvSpPr>
          <p:nvPr>
            <p:ph type="title"/>
          </p:nvPr>
        </p:nvSpPr>
        <p:spPr>
          <a:xfrm>
            <a:off x="342986" y="205978"/>
            <a:ext cx="61737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8"/>
          <p:cNvSpPr txBox="1">
            <a:spLocks noGrp="1"/>
          </p:cNvSpPr>
          <p:nvPr>
            <p:ph type="body" idx="1"/>
          </p:nvPr>
        </p:nvSpPr>
        <p:spPr>
          <a:xfrm>
            <a:off x="342986" y="1200150"/>
            <a:ext cx="3029700" cy="3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619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marL="914400" lvl="1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marL="1371600" lvl="2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marL="1828800" lvl="3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marL="2286000" lvl="4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marL="2743200" lvl="5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marL="3200400" lvl="6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marL="4114800" lvl="8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81" name="Google Shape;81;p18"/>
          <p:cNvSpPr txBox="1">
            <a:spLocks noGrp="1"/>
          </p:cNvSpPr>
          <p:nvPr>
            <p:ph type="body" idx="2"/>
          </p:nvPr>
        </p:nvSpPr>
        <p:spPr>
          <a:xfrm>
            <a:off x="3487022" y="1200150"/>
            <a:ext cx="3029700" cy="3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619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marL="914400" lvl="1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marL="1371600" lvl="2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marL="1828800" lvl="3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marL="2286000" lvl="4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marL="2743200" lvl="5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marL="3200400" lvl="6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marL="4114800" lvl="8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82" name="Google Shape;82;p18"/>
          <p:cNvSpPr txBox="1">
            <a:spLocks noGrp="1"/>
          </p:cNvSpPr>
          <p:nvPr>
            <p:ph type="dt" idx="10"/>
          </p:nvPr>
        </p:nvSpPr>
        <p:spPr>
          <a:xfrm>
            <a:off x="342986" y="4767263"/>
            <a:ext cx="16005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ftr" idx="11"/>
          </p:nvPr>
        </p:nvSpPr>
        <p:spPr>
          <a:xfrm>
            <a:off x="2343736" y="4767263"/>
            <a:ext cx="2172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sldNum" idx="12"/>
          </p:nvPr>
        </p:nvSpPr>
        <p:spPr>
          <a:xfrm>
            <a:off x="4916130" y="4767263"/>
            <a:ext cx="16005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>
            <a:spLocks noGrp="1"/>
          </p:cNvSpPr>
          <p:nvPr>
            <p:ph type="title"/>
          </p:nvPr>
        </p:nvSpPr>
        <p:spPr>
          <a:xfrm>
            <a:off x="342986" y="205978"/>
            <a:ext cx="61737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9"/>
          <p:cNvSpPr txBox="1">
            <a:spLocks noGrp="1"/>
          </p:cNvSpPr>
          <p:nvPr>
            <p:ph type="body" idx="1"/>
          </p:nvPr>
        </p:nvSpPr>
        <p:spPr>
          <a:xfrm>
            <a:off x="342986" y="1151335"/>
            <a:ext cx="3030900" cy="4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88" name="Google Shape;88;p19"/>
          <p:cNvSpPr txBox="1">
            <a:spLocks noGrp="1"/>
          </p:cNvSpPr>
          <p:nvPr>
            <p:ph type="body" idx="2"/>
          </p:nvPr>
        </p:nvSpPr>
        <p:spPr>
          <a:xfrm>
            <a:off x="342986" y="1631156"/>
            <a:ext cx="3030900" cy="29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marL="1371600" lvl="2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marL="1828800" lvl="3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marL="2286000" lvl="4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marL="2743200" lvl="5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lvl="6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lvl="7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lvl="8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89" name="Google Shape;89;p19"/>
          <p:cNvSpPr txBox="1">
            <a:spLocks noGrp="1"/>
          </p:cNvSpPr>
          <p:nvPr>
            <p:ph type="body" idx="3"/>
          </p:nvPr>
        </p:nvSpPr>
        <p:spPr>
          <a:xfrm>
            <a:off x="3484640" y="1151335"/>
            <a:ext cx="3032100" cy="4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90" name="Google Shape;90;p19"/>
          <p:cNvSpPr txBox="1">
            <a:spLocks noGrp="1"/>
          </p:cNvSpPr>
          <p:nvPr>
            <p:ph type="body" idx="4"/>
          </p:nvPr>
        </p:nvSpPr>
        <p:spPr>
          <a:xfrm>
            <a:off x="3484640" y="1631156"/>
            <a:ext cx="3032100" cy="29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marL="1371600" lvl="2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marL="1828800" lvl="3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marL="2286000" lvl="4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marL="2743200" lvl="5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lvl="6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lvl="7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lvl="8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91" name="Google Shape;91;p19"/>
          <p:cNvSpPr txBox="1">
            <a:spLocks noGrp="1"/>
          </p:cNvSpPr>
          <p:nvPr>
            <p:ph type="dt" idx="10"/>
          </p:nvPr>
        </p:nvSpPr>
        <p:spPr>
          <a:xfrm>
            <a:off x="342986" y="4767263"/>
            <a:ext cx="16005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9"/>
          <p:cNvSpPr txBox="1">
            <a:spLocks noGrp="1"/>
          </p:cNvSpPr>
          <p:nvPr>
            <p:ph type="ftr" idx="11"/>
          </p:nvPr>
        </p:nvSpPr>
        <p:spPr>
          <a:xfrm>
            <a:off x="2343736" y="4767263"/>
            <a:ext cx="2172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9"/>
          <p:cNvSpPr txBox="1">
            <a:spLocks noGrp="1"/>
          </p:cNvSpPr>
          <p:nvPr>
            <p:ph type="sldNum" idx="12"/>
          </p:nvPr>
        </p:nvSpPr>
        <p:spPr>
          <a:xfrm>
            <a:off x="4916130" y="4767263"/>
            <a:ext cx="16005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>
            <a:spLocks noGrp="1"/>
          </p:cNvSpPr>
          <p:nvPr>
            <p:ph type="title"/>
          </p:nvPr>
        </p:nvSpPr>
        <p:spPr>
          <a:xfrm>
            <a:off x="342986" y="205978"/>
            <a:ext cx="61737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20"/>
          <p:cNvSpPr txBox="1">
            <a:spLocks noGrp="1"/>
          </p:cNvSpPr>
          <p:nvPr>
            <p:ph type="dt" idx="10"/>
          </p:nvPr>
        </p:nvSpPr>
        <p:spPr>
          <a:xfrm>
            <a:off x="342986" y="4767263"/>
            <a:ext cx="16005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0"/>
          <p:cNvSpPr txBox="1">
            <a:spLocks noGrp="1"/>
          </p:cNvSpPr>
          <p:nvPr>
            <p:ph type="ftr" idx="11"/>
          </p:nvPr>
        </p:nvSpPr>
        <p:spPr>
          <a:xfrm>
            <a:off x="2343736" y="4767263"/>
            <a:ext cx="2172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0"/>
          <p:cNvSpPr txBox="1">
            <a:spLocks noGrp="1"/>
          </p:cNvSpPr>
          <p:nvPr>
            <p:ph type="sldNum" idx="12"/>
          </p:nvPr>
        </p:nvSpPr>
        <p:spPr>
          <a:xfrm>
            <a:off x="4916130" y="4767263"/>
            <a:ext cx="16005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>
            <a:spLocks noGrp="1"/>
          </p:cNvSpPr>
          <p:nvPr>
            <p:ph type="title"/>
          </p:nvPr>
        </p:nvSpPr>
        <p:spPr>
          <a:xfrm>
            <a:off x="342986" y="204788"/>
            <a:ext cx="2256900" cy="8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sz="1500" b="1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1"/>
          <p:cNvSpPr txBox="1">
            <a:spLocks noGrp="1"/>
          </p:cNvSpPr>
          <p:nvPr>
            <p:ph type="body" idx="1"/>
          </p:nvPr>
        </p:nvSpPr>
        <p:spPr>
          <a:xfrm>
            <a:off x="2681958" y="204788"/>
            <a:ext cx="3834900" cy="43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marL="1371600" lvl="2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marL="2286000" lvl="4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marL="2743200" lvl="5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102" name="Google Shape;102;p21"/>
          <p:cNvSpPr txBox="1">
            <a:spLocks noGrp="1"/>
          </p:cNvSpPr>
          <p:nvPr>
            <p:ph type="body" idx="2"/>
          </p:nvPr>
        </p:nvSpPr>
        <p:spPr>
          <a:xfrm>
            <a:off x="342986" y="1076325"/>
            <a:ext cx="2256900" cy="3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marL="1828800" lvl="3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marL="2286000" lvl="4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marL="2743200" lvl="5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marL="3200400" lvl="6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marL="3657600" lvl="7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marL="4114800" lvl="8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>
            <a:endParaRPr/>
          </a:p>
        </p:txBody>
      </p:sp>
      <p:sp>
        <p:nvSpPr>
          <p:cNvPr id="103" name="Google Shape;103;p21"/>
          <p:cNvSpPr txBox="1">
            <a:spLocks noGrp="1"/>
          </p:cNvSpPr>
          <p:nvPr>
            <p:ph type="dt" idx="10"/>
          </p:nvPr>
        </p:nvSpPr>
        <p:spPr>
          <a:xfrm>
            <a:off x="342986" y="4767263"/>
            <a:ext cx="16005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1"/>
          <p:cNvSpPr txBox="1">
            <a:spLocks noGrp="1"/>
          </p:cNvSpPr>
          <p:nvPr>
            <p:ph type="ftr" idx="11"/>
          </p:nvPr>
        </p:nvSpPr>
        <p:spPr>
          <a:xfrm>
            <a:off x="2343736" y="4767263"/>
            <a:ext cx="2172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1"/>
          <p:cNvSpPr txBox="1">
            <a:spLocks noGrp="1"/>
          </p:cNvSpPr>
          <p:nvPr>
            <p:ph type="sldNum" idx="12"/>
          </p:nvPr>
        </p:nvSpPr>
        <p:spPr>
          <a:xfrm>
            <a:off x="4916130" y="4767263"/>
            <a:ext cx="16005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>
            <a:spLocks noGrp="1"/>
          </p:cNvSpPr>
          <p:nvPr>
            <p:ph type="title"/>
          </p:nvPr>
        </p:nvSpPr>
        <p:spPr>
          <a:xfrm>
            <a:off x="1344552" y="3600450"/>
            <a:ext cx="4115700" cy="4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sz="1500" b="1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2"/>
          <p:cNvSpPr>
            <a:spLocks noGrp="1"/>
          </p:cNvSpPr>
          <p:nvPr>
            <p:ph type="pic" idx="2"/>
          </p:nvPr>
        </p:nvSpPr>
        <p:spPr>
          <a:xfrm>
            <a:off x="1344552" y="459581"/>
            <a:ext cx="41157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>
            <a:spLocks noGrp="1"/>
          </p:cNvSpPr>
          <p:nvPr>
            <p:ph type="body" idx="1"/>
          </p:nvPr>
        </p:nvSpPr>
        <p:spPr>
          <a:xfrm>
            <a:off x="1344552" y="4025504"/>
            <a:ext cx="4115700" cy="6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marL="1828800" lvl="3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marL="2286000" lvl="4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marL="2743200" lvl="5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marL="3200400" lvl="6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marL="3657600" lvl="7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marL="4114800" lvl="8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>
            <a:endParaRPr/>
          </a:p>
        </p:txBody>
      </p:sp>
      <p:sp>
        <p:nvSpPr>
          <p:cNvPr id="110" name="Google Shape;110;p22"/>
          <p:cNvSpPr txBox="1">
            <a:spLocks noGrp="1"/>
          </p:cNvSpPr>
          <p:nvPr>
            <p:ph type="dt" idx="10"/>
          </p:nvPr>
        </p:nvSpPr>
        <p:spPr>
          <a:xfrm>
            <a:off x="342986" y="4767263"/>
            <a:ext cx="16005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2"/>
          <p:cNvSpPr txBox="1">
            <a:spLocks noGrp="1"/>
          </p:cNvSpPr>
          <p:nvPr>
            <p:ph type="ftr" idx="11"/>
          </p:nvPr>
        </p:nvSpPr>
        <p:spPr>
          <a:xfrm>
            <a:off x="2343736" y="4767263"/>
            <a:ext cx="2172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2"/>
          <p:cNvSpPr txBox="1">
            <a:spLocks noGrp="1"/>
          </p:cNvSpPr>
          <p:nvPr>
            <p:ph type="sldNum" idx="12"/>
          </p:nvPr>
        </p:nvSpPr>
        <p:spPr>
          <a:xfrm>
            <a:off x="4916130" y="4767263"/>
            <a:ext cx="16005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>
            <a:spLocks noGrp="1"/>
          </p:cNvSpPr>
          <p:nvPr>
            <p:ph type="title"/>
          </p:nvPr>
        </p:nvSpPr>
        <p:spPr>
          <a:xfrm>
            <a:off x="342986" y="205978"/>
            <a:ext cx="61737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3"/>
          <p:cNvSpPr txBox="1">
            <a:spLocks noGrp="1"/>
          </p:cNvSpPr>
          <p:nvPr>
            <p:ph type="body" idx="1"/>
          </p:nvPr>
        </p:nvSpPr>
        <p:spPr>
          <a:xfrm rot="5400000">
            <a:off x="1732630" y="-189450"/>
            <a:ext cx="3394500" cy="617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marL="1371600" lvl="2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marL="2286000" lvl="4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marL="2743200" lvl="5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16" name="Google Shape;116;p23"/>
          <p:cNvSpPr txBox="1">
            <a:spLocks noGrp="1"/>
          </p:cNvSpPr>
          <p:nvPr>
            <p:ph type="dt" idx="10"/>
          </p:nvPr>
        </p:nvSpPr>
        <p:spPr>
          <a:xfrm>
            <a:off x="342986" y="4767263"/>
            <a:ext cx="16005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3"/>
          <p:cNvSpPr txBox="1">
            <a:spLocks noGrp="1"/>
          </p:cNvSpPr>
          <p:nvPr>
            <p:ph type="ftr" idx="11"/>
          </p:nvPr>
        </p:nvSpPr>
        <p:spPr>
          <a:xfrm>
            <a:off x="2343736" y="4767263"/>
            <a:ext cx="2172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3"/>
          <p:cNvSpPr txBox="1">
            <a:spLocks noGrp="1"/>
          </p:cNvSpPr>
          <p:nvPr>
            <p:ph type="sldNum" idx="12"/>
          </p:nvPr>
        </p:nvSpPr>
        <p:spPr>
          <a:xfrm>
            <a:off x="4916130" y="4767263"/>
            <a:ext cx="16005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>
            <a:spLocks noGrp="1"/>
          </p:cNvSpPr>
          <p:nvPr>
            <p:ph type="title"/>
          </p:nvPr>
        </p:nvSpPr>
        <p:spPr>
          <a:xfrm rot="5400000">
            <a:off x="3550630" y="1628579"/>
            <a:ext cx="4388700" cy="15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4"/>
          <p:cNvSpPr txBox="1">
            <a:spLocks noGrp="1"/>
          </p:cNvSpPr>
          <p:nvPr>
            <p:ph type="body" idx="1"/>
          </p:nvPr>
        </p:nvSpPr>
        <p:spPr>
          <a:xfrm rot="5400000">
            <a:off x="406666" y="142378"/>
            <a:ext cx="4388700" cy="45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marL="1371600" lvl="2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marL="2286000" lvl="4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marL="2743200" lvl="5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2" name="Google Shape;122;p24"/>
          <p:cNvSpPr txBox="1">
            <a:spLocks noGrp="1"/>
          </p:cNvSpPr>
          <p:nvPr>
            <p:ph type="dt" idx="10"/>
          </p:nvPr>
        </p:nvSpPr>
        <p:spPr>
          <a:xfrm>
            <a:off x="342986" y="4767263"/>
            <a:ext cx="16005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4"/>
          <p:cNvSpPr txBox="1">
            <a:spLocks noGrp="1"/>
          </p:cNvSpPr>
          <p:nvPr>
            <p:ph type="ftr" idx="11"/>
          </p:nvPr>
        </p:nvSpPr>
        <p:spPr>
          <a:xfrm>
            <a:off x="2343736" y="4767263"/>
            <a:ext cx="2172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24"/>
          <p:cNvSpPr txBox="1">
            <a:spLocks noGrp="1"/>
          </p:cNvSpPr>
          <p:nvPr>
            <p:ph type="sldNum" idx="12"/>
          </p:nvPr>
        </p:nvSpPr>
        <p:spPr>
          <a:xfrm>
            <a:off x="4916130" y="4767263"/>
            <a:ext cx="16005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enerated">
  <p:cSld name="Generated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42986" y="205978"/>
            <a:ext cx="61737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42986" y="1200150"/>
            <a:ext cx="6173700" cy="3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810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619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342986" y="4767263"/>
            <a:ext cx="16005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2343736" y="4767263"/>
            <a:ext cx="2172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4916130" y="4767263"/>
            <a:ext cx="16005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jpe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jpe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2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4.pn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EC7D7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sz="14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1" name="Google Shape;131;p26" descr="A high-quality, subtle texture of vintage, hand-made sketchbook paper with slight grain and organic imperfections.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6"/>
          <p:cNvSpPr txBox="1"/>
          <p:nvPr/>
        </p:nvSpPr>
        <p:spPr>
          <a:xfrm>
            <a:off x="480180" y="822960"/>
            <a:ext cx="5144700" cy="21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400" b="1" i="0" u="none" strike="noStrike" cap="none" noProof="0" dirty="0">
                <a:solidFill>
                  <a:srgbClr val="0E172C"/>
                </a:solidFill>
                <a:latin typeface="Georgia"/>
                <a:ea typeface="Georgia"/>
                <a:cs typeface="Georgia"/>
                <a:sym typeface="Georgia"/>
              </a:rPr>
              <a:t>Park Street</a:t>
            </a:r>
            <a:br>
              <a:rPr lang="en-GB" sz="5400" b="1" i="0" u="none" strike="noStrike" cap="none" noProof="0" dirty="0">
                <a:solidFill>
                  <a:srgbClr val="0E172C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5400" b="1" i="0" u="none" strike="noStrike" cap="none" noProof="0" dirty="0">
                <a:solidFill>
                  <a:srgbClr val="0E172C"/>
                </a:solidFill>
                <a:latin typeface="Georgia"/>
                <a:ea typeface="Georgia"/>
                <a:cs typeface="Georgia"/>
                <a:sym typeface="Georgia"/>
              </a:rPr>
              <a:t>Survivor</a:t>
            </a:r>
            <a:endParaRPr lang="en-GB" sz="1100" noProof="0" dirty="0"/>
          </a:p>
        </p:txBody>
      </p:sp>
      <p:sp>
        <p:nvSpPr>
          <p:cNvPr id="133" name="Google Shape;133;p26"/>
          <p:cNvSpPr txBox="1"/>
          <p:nvPr/>
        </p:nvSpPr>
        <p:spPr>
          <a:xfrm>
            <a:off x="480180" y="2811779"/>
            <a:ext cx="5144787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0" i="1" u="none" strike="noStrike" cap="none" noProof="0" dirty="0">
                <a:solidFill>
                  <a:srgbClr val="A786DF"/>
                </a:solidFill>
                <a:latin typeface="Georgia"/>
                <a:ea typeface="Georgia"/>
                <a:cs typeface="Georgia"/>
                <a:sym typeface="Georgia"/>
              </a:rPr>
              <a:t>Sprint through the fragmented memories of a Bristol CS graduate</a:t>
            </a:r>
            <a:endParaRPr lang="en-GB" sz="1100" noProof="0" dirty="0"/>
          </a:p>
        </p:txBody>
      </p:sp>
      <p:sp>
        <p:nvSpPr>
          <p:cNvPr id="134" name="Google Shape;134;p26"/>
          <p:cNvSpPr txBox="1"/>
          <p:nvPr/>
        </p:nvSpPr>
        <p:spPr>
          <a:xfrm>
            <a:off x="480180" y="3311979"/>
            <a:ext cx="51447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0" i="0" u="none" strike="noStrike" cap="none" noProof="0" dirty="0">
                <a:solidFill>
                  <a:srgbClr val="606B8A"/>
                </a:solidFill>
                <a:latin typeface="Georgia"/>
                <a:ea typeface="Georgia"/>
                <a:cs typeface="Georgia"/>
                <a:sym typeface="Georgia"/>
              </a:rPr>
              <a:t>A 5-day surrealist journey on Park Street where every gift from the past shapes your ultimate choice</a:t>
            </a:r>
            <a:endParaRPr lang="en-GB" sz="1100" noProof="0" dirty="0"/>
          </a:p>
        </p:txBody>
      </p:sp>
      <p:sp>
        <p:nvSpPr>
          <p:cNvPr id="135" name="Google Shape;135;p26"/>
          <p:cNvSpPr txBox="1"/>
          <p:nvPr/>
        </p:nvSpPr>
        <p:spPr>
          <a:xfrm>
            <a:off x="480180" y="3806190"/>
            <a:ext cx="5144787" cy="308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 i="0" u="none" strike="noStrike" cap="none" noProof="0" dirty="0">
                <a:solidFill>
                  <a:srgbClr val="0E172C"/>
                </a:solidFill>
                <a:latin typeface="Georgia"/>
                <a:ea typeface="Georgia"/>
                <a:cs typeface="Georgia"/>
                <a:sym typeface="Georgia"/>
              </a:rPr>
              <a:t>Charlotte Yu  ·  Lucca Zhou  ·  Ray Wang  ·  Layla Pei</a:t>
            </a:r>
            <a:endParaRPr lang="en-GB" sz="1100" noProof="0" dirty="0"/>
          </a:p>
        </p:txBody>
      </p:sp>
      <p:sp>
        <p:nvSpPr>
          <p:cNvPr id="136" name="Google Shape;136;p26"/>
          <p:cNvSpPr/>
          <p:nvPr/>
        </p:nvSpPr>
        <p:spPr>
          <a:xfrm>
            <a:off x="480180" y="4217670"/>
            <a:ext cx="1069354" cy="242888"/>
          </a:xfrm>
          <a:prstGeom prst="rect">
            <a:avLst/>
          </a:prstGeom>
          <a:solidFill>
            <a:srgbClr val="D9D4E7"/>
          </a:solidFill>
          <a:ln w="27925" cap="flat" cmpd="sng">
            <a:solidFill>
              <a:srgbClr val="0E172C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133375" tIns="47625" rIns="133375" bIns="476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1" i="0" u="none" strike="noStrike" cap="none" noProof="0" dirty="0">
                <a:solidFill>
                  <a:srgbClr val="0E172C"/>
                </a:solidFill>
                <a:latin typeface="Georgia"/>
                <a:ea typeface="Georgia"/>
                <a:cs typeface="Georgia"/>
                <a:sym typeface="Georgia"/>
              </a:rPr>
              <a:t>SEDP 2026</a:t>
            </a:r>
            <a:endParaRPr lang="en-GB" sz="1100" noProof="0" dirty="0"/>
          </a:p>
        </p:txBody>
      </p:sp>
      <p:sp>
        <p:nvSpPr>
          <p:cNvPr id="137" name="Google Shape;137;p26"/>
          <p:cNvSpPr/>
          <p:nvPr/>
        </p:nvSpPr>
        <p:spPr>
          <a:xfrm>
            <a:off x="1680630" y="4217670"/>
            <a:ext cx="891001" cy="242888"/>
          </a:xfrm>
          <a:prstGeom prst="rect">
            <a:avLst/>
          </a:prstGeom>
          <a:solidFill>
            <a:srgbClr val="A786DF"/>
          </a:solidFill>
          <a:ln w="27925" cap="flat" cmpd="sng">
            <a:solidFill>
              <a:srgbClr val="0E172C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133375" tIns="47625" rIns="133375" bIns="476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1" i="0" u="none" strike="noStrike" cap="none" noProof="0" dirty="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Group 7</a:t>
            </a:r>
            <a:endParaRPr lang="en-GB" sz="1100" noProof="0" dirty="0"/>
          </a:p>
        </p:txBody>
      </p:sp>
      <p:sp>
        <p:nvSpPr>
          <p:cNvPr id="138" name="Google Shape;138;p26"/>
          <p:cNvSpPr/>
          <p:nvPr/>
        </p:nvSpPr>
        <p:spPr>
          <a:xfrm>
            <a:off x="2881081" y="4217670"/>
            <a:ext cx="1158530" cy="242888"/>
          </a:xfrm>
          <a:prstGeom prst="rect">
            <a:avLst/>
          </a:prstGeom>
          <a:solidFill>
            <a:srgbClr val="F9F8FC"/>
          </a:solidFill>
          <a:ln w="27925" cap="flat" cmpd="sng">
            <a:solidFill>
              <a:srgbClr val="0E172C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133375" tIns="47625" rIns="133375" bIns="476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1" i="0" u="none" strike="noStrike" cap="none" noProof="0" dirty="0">
                <a:solidFill>
                  <a:srgbClr val="0E172C"/>
                </a:solidFill>
                <a:latin typeface="Georgia"/>
                <a:ea typeface="Georgia"/>
                <a:cs typeface="Georgia"/>
                <a:sym typeface="Georgia"/>
              </a:rPr>
              <a:t>JavaScript</a:t>
            </a:r>
            <a:endParaRPr lang="en-GB" sz="1100" noProof="0" dirty="0"/>
          </a:p>
        </p:txBody>
      </p:sp>
      <p:sp>
        <p:nvSpPr>
          <p:cNvPr id="139" name="Google Shape;139;p26"/>
          <p:cNvSpPr/>
          <p:nvPr/>
        </p:nvSpPr>
        <p:spPr>
          <a:xfrm>
            <a:off x="4081531" y="4217670"/>
            <a:ext cx="712648" cy="242888"/>
          </a:xfrm>
          <a:prstGeom prst="rect">
            <a:avLst/>
          </a:prstGeom>
          <a:solidFill>
            <a:srgbClr val="F9F8FC"/>
          </a:solidFill>
          <a:ln w="27925" cap="flat" cmpd="sng">
            <a:solidFill>
              <a:srgbClr val="0E172C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133375" tIns="47625" rIns="133375" bIns="476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1" i="0" u="none" strike="noStrike" cap="none" noProof="0" dirty="0">
                <a:solidFill>
                  <a:srgbClr val="0E172C"/>
                </a:solidFill>
                <a:latin typeface="Georgia"/>
                <a:ea typeface="Georgia"/>
                <a:cs typeface="Georgia"/>
                <a:sym typeface="Georgia"/>
              </a:rPr>
              <a:t>p5.js</a:t>
            </a:r>
            <a:endParaRPr lang="en-GB" sz="1100" noProof="0" dirty="0"/>
          </a:p>
        </p:txBody>
      </p:sp>
      <p:sp>
        <p:nvSpPr>
          <p:cNvPr id="140" name="Google Shape;140;p26"/>
          <p:cNvSpPr>
            <a:spLocks/>
          </p:cNvSpPr>
          <p:nvPr/>
        </p:nvSpPr>
        <p:spPr>
          <a:xfrm>
            <a:off x="5632371" y="991925"/>
            <a:ext cx="3168000" cy="3168000"/>
          </a:xfrm>
          <a:prstGeom prst="rect">
            <a:avLst/>
          </a:prstGeom>
          <a:solidFill>
            <a:srgbClr val="F9F8FC"/>
          </a:solidFill>
          <a:ln w="25400" cap="flat" cmpd="sng">
            <a:solidFill>
              <a:srgbClr val="0E172C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sz="14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6"/>
          <p:cNvSpPr txBox="1"/>
          <p:nvPr/>
        </p:nvSpPr>
        <p:spPr>
          <a:xfrm>
            <a:off x="5975400" y="2468879"/>
            <a:ext cx="2469498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0" i="1" u="none" strike="noStrike" cap="none" noProof="0" dirty="0">
                <a:solidFill>
                  <a:srgbClr val="AAAABB"/>
                </a:solidFill>
                <a:latin typeface="Georgia"/>
                <a:ea typeface="Georgia"/>
                <a:cs typeface="Georgia"/>
                <a:sym typeface="Georgia"/>
              </a:rPr>
              <a:t>[ Game screenshot ]</a:t>
            </a:r>
            <a:endParaRPr lang="en-GB" sz="1100" noProof="0" dirty="0"/>
          </a:p>
        </p:txBody>
      </p:sp>
      <p:pic>
        <p:nvPicPr>
          <p:cNvPr id="142" name="Google Shape;142;p26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953500" y="176213"/>
            <a:ext cx="52500" cy="479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440ADC9-04FA-03A9-E12E-2FDC1FC38148}"/>
              </a:ext>
            </a:extLst>
          </p:cNvPr>
          <p:cNvPicPr>
            <a:picLocks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32371" y="991925"/>
            <a:ext cx="3168000" cy="316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7"/>
          <p:cNvSpPr/>
          <p:nvPr/>
        </p:nvSpPr>
        <p:spPr>
          <a:xfrm>
            <a:off x="0" y="0"/>
            <a:ext cx="9144002" cy="5143500"/>
          </a:xfrm>
          <a:prstGeom prst="rect">
            <a:avLst/>
          </a:prstGeom>
          <a:solidFill>
            <a:srgbClr val="0E172C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sz="14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8" name="Google Shape;148;p27" descr="A high-quality, subtle texture of vintage, hand-made sketchbook paper with slight grain and organic imperfections.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7"/>
          <p:cNvSpPr/>
          <p:nvPr/>
        </p:nvSpPr>
        <p:spPr>
          <a:xfrm>
            <a:off x="0" y="0"/>
            <a:ext cx="123475" cy="5143500"/>
          </a:xfrm>
          <a:prstGeom prst="rect">
            <a:avLst/>
          </a:prstGeom>
          <a:solidFill>
            <a:srgbClr val="FEC7D7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sz="14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27"/>
          <p:cNvSpPr txBox="1"/>
          <p:nvPr/>
        </p:nvSpPr>
        <p:spPr>
          <a:xfrm>
            <a:off x="342986" y="342900"/>
            <a:ext cx="3429858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0" b="1" i="0" u="none" strike="noStrike" cap="none" noProof="0" dirty="0">
                <a:solidFill>
                  <a:srgbClr val="1E2A4A"/>
                </a:solidFill>
                <a:latin typeface="Georgia"/>
                <a:ea typeface="Georgia"/>
                <a:cs typeface="Georgia"/>
                <a:sym typeface="Georgia"/>
              </a:rPr>
              <a:t>01</a:t>
            </a:r>
            <a:endParaRPr lang="en-GB" sz="1100" noProof="0" dirty="0"/>
          </a:p>
        </p:txBody>
      </p:sp>
      <p:sp>
        <p:nvSpPr>
          <p:cNvPr id="151" name="Google Shape;151;p27"/>
          <p:cNvSpPr txBox="1"/>
          <p:nvPr/>
        </p:nvSpPr>
        <p:spPr>
          <a:xfrm>
            <a:off x="480180" y="1920240"/>
            <a:ext cx="7888673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400" b="1" i="0" u="none" strike="noStrike" cap="none" noProof="0" dirty="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The Novel Idea</a:t>
            </a:r>
            <a:endParaRPr lang="en-GB" sz="1100" noProof="0" dirty="0"/>
          </a:p>
        </p:txBody>
      </p:sp>
      <p:sp>
        <p:nvSpPr>
          <p:cNvPr id="152" name="Google Shape;152;p27"/>
          <p:cNvSpPr txBox="1"/>
          <p:nvPr/>
        </p:nvSpPr>
        <p:spPr>
          <a:xfrm>
            <a:off x="480180" y="3223260"/>
            <a:ext cx="6859716" cy="48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b="0" i="1" u="none" strike="noStrike" cap="none" noProof="0" dirty="0">
                <a:solidFill>
                  <a:srgbClr val="A786DF"/>
                </a:solidFill>
                <a:latin typeface="Georgia"/>
                <a:ea typeface="Georgia"/>
                <a:cs typeface="Georgia"/>
                <a:sym typeface="Georgia"/>
              </a:rPr>
              <a:t>What makes Park Street Survivor different?</a:t>
            </a:r>
            <a:endParaRPr lang="en-GB" sz="1100" noProof="0" dirty="0"/>
          </a:p>
        </p:txBody>
      </p:sp>
      <p:sp>
        <p:nvSpPr>
          <p:cNvPr id="153" name="Google Shape;153;p27"/>
          <p:cNvSpPr/>
          <p:nvPr/>
        </p:nvSpPr>
        <p:spPr>
          <a:xfrm>
            <a:off x="8094465" y="4457700"/>
            <a:ext cx="754569" cy="411480"/>
          </a:xfrm>
          <a:prstGeom prst="rect">
            <a:avLst/>
          </a:prstGeom>
          <a:solidFill>
            <a:srgbClr val="FEC7D7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sz="14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9"/>
          <p:cNvSpPr/>
          <p:nvPr/>
        </p:nvSpPr>
        <p:spPr>
          <a:xfrm>
            <a:off x="0" y="0"/>
            <a:ext cx="9144002" cy="5143500"/>
          </a:xfrm>
          <a:prstGeom prst="rect">
            <a:avLst/>
          </a:prstGeom>
          <a:solidFill>
            <a:srgbClr val="0E172C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sz="14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4" name="Google Shape;194;p29" descr="A high-quality, subtle texture of vintage, hand-made sketchbook paper with slight grain and organic imperfections.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9"/>
          <p:cNvSpPr/>
          <p:nvPr/>
        </p:nvSpPr>
        <p:spPr>
          <a:xfrm>
            <a:off x="0" y="0"/>
            <a:ext cx="123475" cy="5143500"/>
          </a:xfrm>
          <a:prstGeom prst="rect">
            <a:avLst/>
          </a:prstGeom>
          <a:solidFill>
            <a:srgbClr val="FEC7D7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sz="14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9"/>
          <p:cNvSpPr txBox="1"/>
          <p:nvPr/>
        </p:nvSpPr>
        <p:spPr>
          <a:xfrm>
            <a:off x="342986" y="342900"/>
            <a:ext cx="3429858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0" b="1" i="0" u="none" strike="noStrike" cap="none" noProof="0" dirty="0">
                <a:solidFill>
                  <a:srgbClr val="1E2A4A"/>
                </a:solidFill>
                <a:latin typeface="Georgia"/>
                <a:ea typeface="Georgia"/>
                <a:cs typeface="Georgia"/>
                <a:sym typeface="Georgia"/>
              </a:rPr>
              <a:t>02</a:t>
            </a:r>
            <a:endParaRPr lang="en-GB" sz="1100" noProof="0" dirty="0"/>
          </a:p>
        </p:txBody>
      </p:sp>
      <p:sp>
        <p:nvSpPr>
          <p:cNvPr id="197" name="Google Shape;197;p29"/>
          <p:cNvSpPr txBox="1"/>
          <p:nvPr/>
        </p:nvSpPr>
        <p:spPr>
          <a:xfrm>
            <a:off x="480180" y="1920240"/>
            <a:ext cx="7888673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400" b="1" i="0" u="none" strike="noStrike" cap="none" noProof="0" dirty="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Visual Materials</a:t>
            </a:r>
            <a:endParaRPr lang="en-GB" sz="1100" noProof="0" dirty="0"/>
          </a:p>
        </p:txBody>
      </p:sp>
      <p:sp>
        <p:nvSpPr>
          <p:cNvPr id="198" name="Google Shape;198;p29"/>
          <p:cNvSpPr txBox="1"/>
          <p:nvPr/>
        </p:nvSpPr>
        <p:spPr>
          <a:xfrm>
            <a:off x="480180" y="3223260"/>
            <a:ext cx="6859716" cy="48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b="0" i="1" u="none" strike="noStrike" cap="none" noProof="0" dirty="0">
                <a:solidFill>
                  <a:srgbClr val="A786DF"/>
                </a:solidFill>
                <a:latin typeface="Georgia"/>
                <a:ea typeface="Georgia"/>
                <a:cs typeface="Georgia"/>
                <a:sym typeface="Georgia"/>
              </a:rPr>
              <a:t>AI-generated pixel art, refined by the team</a:t>
            </a:r>
            <a:endParaRPr lang="en-GB" sz="1100" noProof="0" dirty="0"/>
          </a:p>
        </p:txBody>
      </p:sp>
      <p:sp>
        <p:nvSpPr>
          <p:cNvPr id="199" name="Google Shape;199;p29"/>
          <p:cNvSpPr/>
          <p:nvPr/>
        </p:nvSpPr>
        <p:spPr>
          <a:xfrm>
            <a:off x="8094465" y="4457700"/>
            <a:ext cx="754569" cy="411480"/>
          </a:xfrm>
          <a:prstGeom prst="rect">
            <a:avLst/>
          </a:prstGeom>
          <a:solidFill>
            <a:srgbClr val="FEC7D7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sz="14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32"/>
          <p:cNvSpPr/>
          <p:nvPr/>
        </p:nvSpPr>
        <p:spPr>
          <a:xfrm>
            <a:off x="0" y="0"/>
            <a:ext cx="9144002" cy="5143500"/>
          </a:xfrm>
          <a:prstGeom prst="rect">
            <a:avLst/>
          </a:prstGeom>
          <a:solidFill>
            <a:srgbClr val="0E172C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sz="14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9" name="Google Shape;429;p32" descr="A high-quality, subtle texture of vintage, hand-made sketchbook paper with slight grain and organic imperfections.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32"/>
          <p:cNvSpPr/>
          <p:nvPr/>
        </p:nvSpPr>
        <p:spPr>
          <a:xfrm>
            <a:off x="0" y="0"/>
            <a:ext cx="123475" cy="5143500"/>
          </a:xfrm>
          <a:prstGeom prst="rect">
            <a:avLst/>
          </a:prstGeom>
          <a:solidFill>
            <a:srgbClr val="FEC7D7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sz="14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32"/>
          <p:cNvSpPr txBox="1"/>
          <p:nvPr/>
        </p:nvSpPr>
        <p:spPr>
          <a:xfrm>
            <a:off x="342986" y="342900"/>
            <a:ext cx="3429858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0" b="1" i="0" u="none" strike="noStrike" cap="none" noProof="0" dirty="0">
                <a:solidFill>
                  <a:srgbClr val="1E2A4A"/>
                </a:solidFill>
                <a:latin typeface="Georgia"/>
                <a:ea typeface="Georgia"/>
                <a:cs typeface="Georgia"/>
                <a:sym typeface="Georgia"/>
              </a:rPr>
              <a:t>03</a:t>
            </a:r>
            <a:endParaRPr lang="en-GB" sz="1100" noProof="0" dirty="0"/>
          </a:p>
        </p:txBody>
      </p:sp>
      <p:sp>
        <p:nvSpPr>
          <p:cNvPr id="432" name="Google Shape;432;p32"/>
          <p:cNvSpPr txBox="1"/>
          <p:nvPr/>
        </p:nvSpPr>
        <p:spPr>
          <a:xfrm>
            <a:off x="480180" y="1920240"/>
            <a:ext cx="7888673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400" b="1" i="0" u="none" strike="noStrike" cap="none" noProof="0" dirty="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Technical Challenges</a:t>
            </a:r>
            <a:endParaRPr lang="en-GB" sz="1100" noProof="0" dirty="0"/>
          </a:p>
        </p:txBody>
      </p:sp>
      <p:sp>
        <p:nvSpPr>
          <p:cNvPr id="433" name="Google Shape;433;p32"/>
          <p:cNvSpPr txBox="1"/>
          <p:nvPr/>
        </p:nvSpPr>
        <p:spPr>
          <a:xfrm>
            <a:off x="480180" y="3223260"/>
            <a:ext cx="6859716" cy="48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b="0" i="1" u="none" strike="noStrike" cap="none" noProof="0" dirty="0">
                <a:solidFill>
                  <a:srgbClr val="A786DF"/>
                </a:solidFill>
                <a:latin typeface="Georgia"/>
                <a:ea typeface="Georgia"/>
                <a:cs typeface="Georgia"/>
                <a:sym typeface="Georgia"/>
              </a:rPr>
              <a:t>State management &amp; the narrative engine</a:t>
            </a:r>
            <a:endParaRPr lang="en-GB" sz="1100" noProof="0" dirty="0"/>
          </a:p>
        </p:txBody>
      </p:sp>
      <p:sp>
        <p:nvSpPr>
          <p:cNvPr id="434" name="Google Shape;434;p32"/>
          <p:cNvSpPr/>
          <p:nvPr/>
        </p:nvSpPr>
        <p:spPr>
          <a:xfrm>
            <a:off x="8094465" y="4457700"/>
            <a:ext cx="754569" cy="411480"/>
          </a:xfrm>
          <a:prstGeom prst="rect">
            <a:avLst/>
          </a:prstGeom>
          <a:solidFill>
            <a:srgbClr val="FEC7D7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sz="14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36"/>
          <p:cNvSpPr/>
          <p:nvPr/>
        </p:nvSpPr>
        <p:spPr>
          <a:xfrm>
            <a:off x="0" y="0"/>
            <a:ext cx="9144002" cy="5143500"/>
          </a:xfrm>
          <a:prstGeom prst="rect">
            <a:avLst/>
          </a:prstGeom>
          <a:solidFill>
            <a:srgbClr val="0E172C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sz="14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00" name="Google Shape;500;p36" descr="A high-quality, subtle texture of vintage, hand-made sketchbook paper with slight grain and organic imperfections.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36"/>
          <p:cNvSpPr/>
          <p:nvPr/>
        </p:nvSpPr>
        <p:spPr>
          <a:xfrm>
            <a:off x="0" y="0"/>
            <a:ext cx="123475" cy="5143500"/>
          </a:xfrm>
          <a:prstGeom prst="rect">
            <a:avLst/>
          </a:prstGeom>
          <a:solidFill>
            <a:srgbClr val="FEC7D7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sz="14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36"/>
          <p:cNvSpPr txBox="1"/>
          <p:nvPr/>
        </p:nvSpPr>
        <p:spPr>
          <a:xfrm>
            <a:off x="342986" y="342900"/>
            <a:ext cx="3429858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0" b="1" i="0" u="none" strike="noStrike" cap="none" noProof="0" dirty="0">
                <a:solidFill>
                  <a:srgbClr val="1E2A4A"/>
                </a:solidFill>
                <a:latin typeface="Georgia"/>
                <a:ea typeface="Georgia"/>
                <a:cs typeface="Georgia"/>
                <a:sym typeface="Georgia"/>
              </a:rPr>
              <a:t>04</a:t>
            </a:r>
            <a:endParaRPr lang="en-GB" sz="1100" noProof="0" dirty="0"/>
          </a:p>
        </p:txBody>
      </p:sp>
      <p:sp>
        <p:nvSpPr>
          <p:cNvPr id="503" name="Google Shape;503;p36"/>
          <p:cNvSpPr txBox="1"/>
          <p:nvPr/>
        </p:nvSpPr>
        <p:spPr>
          <a:xfrm>
            <a:off x="480180" y="1920240"/>
            <a:ext cx="7888673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400" b="1" i="0" u="none" strike="noStrike" cap="none" noProof="0" dirty="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Process &amp; Teamwork</a:t>
            </a:r>
            <a:endParaRPr lang="en-GB" sz="1100" noProof="0" dirty="0"/>
          </a:p>
        </p:txBody>
      </p:sp>
      <p:sp>
        <p:nvSpPr>
          <p:cNvPr id="504" name="Google Shape;504;p36"/>
          <p:cNvSpPr txBox="1"/>
          <p:nvPr/>
        </p:nvSpPr>
        <p:spPr>
          <a:xfrm>
            <a:off x="480180" y="3223260"/>
            <a:ext cx="6859716" cy="48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b="0" i="1" u="none" strike="noStrike" cap="none" noProof="0" dirty="0">
                <a:solidFill>
                  <a:srgbClr val="A786DF"/>
                </a:solidFill>
                <a:latin typeface="Georgia"/>
                <a:ea typeface="Georgia"/>
                <a:cs typeface="Georgia"/>
                <a:sym typeface="Georgia"/>
              </a:rPr>
              <a:t>How we built it together</a:t>
            </a:r>
            <a:endParaRPr lang="en-GB" sz="1100" noProof="0" dirty="0"/>
          </a:p>
        </p:txBody>
      </p:sp>
      <p:sp>
        <p:nvSpPr>
          <p:cNvPr id="505" name="Google Shape;505;p36"/>
          <p:cNvSpPr/>
          <p:nvPr/>
        </p:nvSpPr>
        <p:spPr>
          <a:xfrm>
            <a:off x="8094465" y="4457700"/>
            <a:ext cx="754569" cy="411480"/>
          </a:xfrm>
          <a:prstGeom prst="rect">
            <a:avLst/>
          </a:prstGeom>
          <a:solidFill>
            <a:srgbClr val="FEC7D7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sz="14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37"/>
          <p:cNvSpPr/>
          <p:nvPr/>
        </p:nvSpPr>
        <p:spPr>
          <a:xfrm>
            <a:off x="0" y="0"/>
            <a:ext cx="9144002" cy="5143500"/>
          </a:xfrm>
          <a:prstGeom prst="rect">
            <a:avLst/>
          </a:prstGeom>
          <a:solidFill>
            <a:srgbClr val="FEC7D7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sz="14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11" name="Google Shape;511;p37" descr="A high-quality, subtle texture of vintage, hand-made sketchbook paper with slight grain and organic imperfections.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12" name="Google Shape;512;p37"/>
          <p:cNvSpPr txBox="1"/>
          <p:nvPr/>
        </p:nvSpPr>
        <p:spPr>
          <a:xfrm>
            <a:off x="342986" y="480060"/>
            <a:ext cx="6173744" cy="377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 b="1" i="0" u="none" strike="noStrike" cap="none" noProof="0" dirty="0">
                <a:solidFill>
                  <a:srgbClr val="0E172C"/>
                </a:solidFill>
                <a:latin typeface="Georgia"/>
                <a:ea typeface="Georgia"/>
                <a:cs typeface="Georgia"/>
                <a:sym typeface="Georgia"/>
              </a:rPr>
              <a:t>How we built it together</a:t>
            </a:r>
            <a:endParaRPr lang="en-GB" sz="1100" noProof="0" dirty="0"/>
          </a:p>
        </p:txBody>
      </p:sp>
      <p:sp>
        <p:nvSpPr>
          <p:cNvPr id="513" name="Google Shape;513;p37"/>
          <p:cNvSpPr/>
          <p:nvPr/>
        </p:nvSpPr>
        <p:spPr>
          <a:xfrm>
            <a:off x="472000" y="1471750"/>
            <a:ext cx="4100000" cy="2200000"/>
          </a:xfrm>
          <a:prstGeom prst="rect">
            <a:avLst/>
          </a:prstGeom>
          <a:solidFill>
            <a:srgbClr val="F9F8FC"/>
          </a:solidFill>
          <a:ln w="25400" cap="flat" cmpd="sng">
            <a:solidFill>
              <a:srgbClr val="0E172C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sz="14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37"/>
          <p:cNvSpPr txBox="1"/>
          <p:nvPr/>
        </p:nvSpPr>
        <p:spPr>
          <a:xfrm>
            <a:off x="574896" y="1540330"/>
            <a:ext cx="3841441" cy="24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i="0" u="none" strike="noStrike" cap="none" noProof="0" dirty="0">
                <a:solidFill>
                  <a:srgbClr val="0E172C"/>
                </a:solidFill>
                <a:latin typeface="Georgia"/>
                <a:ea typeface="Georgia"/>
                <a:cs typeface="Georgia"/>
                <a:sym typeface="Georgia"/>
              </a:rPr>
              <a:t>Roles</a:t>
            </a:r>
            <a:endParaRPr lang="en-GB" sz="1800" noProof="0" dirty="0"/>
          </a:p>
        </p:txBody>
      </p:sp>
      <p:sp>
        <p:nvSpPr>
          <p:cNvPr id="515" name="Google Shape;515;p37"/>
          <p:cNvSpPr txBox="1"/>
          <p:nvPr/>
        </p:nvSpPr>
        <p:spPr>
          <a:xfrm>
            <a:off x="619514" y="2291164"/>
            <a:ext cx="3900000" cy="961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i="0" u="none" strike="noStrike" cap="none" noProof="0" dirty="0">
                <a:solidFill>
                  <a:srgbClr val="0E172C"/>
                </a:solidFill>
                <a:latin typeface="Georgia"/>
                <a:ea typeface="Georgia"/>
                <a:cs typeface="Georgia"/>
                <a:sym typeface="Georgia"/>
              </a:rPr>
              <a:t>Charlotte Yu</a:t>
            </a:r>
            <a:endParaRPr lang="en-GB" sz="1600" noProof="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 noProof="0" dirty="0">
                <a:solidFill>
                  <a:srgbClr val="0E172C"/>
                </a:solidFill>
                <a:latin typeface="Georgia"/>
                <a:ea typeface="Georgia"/>
                <a:cs typeface="Georgia"/>
                <a:sym typeface="Georgia"/>
              </a:rPr>
              <a:t>Product Owner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 noProof="0" dirty="0">
                <a:solidFill>
                  <a:srgbClr val="0E172C"/>
                </a:solidFill>
                <a:latin typeface="Georgia"/>
                <a:ea typeface="Georgia"/>
                <a:cs typeface="Georgia"/>
                <a:sym typeface="Georgia"/>
              </a:rPr>
              <a:t>Core Mechanism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 noProof="0" dirty="0">
                <a:solidFill>
                  <a:srgbClr val="0E172C"/>
                </a:solidFill>
                <a:latin typeface="Georgia"/>
                <a:ea typeface="Georgia"/>
                <a:cs typeface="Georgia"/>
                <a:sym typeface="Georgia"/>
              </a:rPr>
              <a:t>Co-Script</a:t>
            </a:r>
            <a:endParaRPr lang="en-GB" sz="1400" noProof="0" dirty="0"/>
          </a:p>
        </p:txBody>
      </p:sp>
      <p:grpSp>
        <p:nvGrpSpPr>
          <p:cNvPr id="538" name="Google Shape;538;p37"/>
          <p:cNvGrpSpPr/>
          <p:nvPr/>
        </p:nvGrpSpPr>
        <p:grpSpPr>
          <a:xfrm>
            <a:off x="445875" y="178625"/>
            <a:ext cx="1266900" cy="238200"/>
            <a:chOff x="445875" y="178625"/>
            <a:chExt cx="1266900" cy="238200"/>
          </a:xfrm>
        </p:grpSpPr>
        <p:pic>
          <p:nvPicPr>
            <p:cNvPr id="539" name="Google Shape;539;p37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445875" y="178625"/>
              <a:ext cx="1266900" cy="238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0" name="Google Shape;540;p37"/>
            <p:cNvSpPr txBox="1"/>
            <p:nvPr/>
          </p:nvSpPr>
          <p:spPr>
            <a:xfrm>
              <a:off x="507825" y="192875"/>
              <a:ext cx="11430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 b="1" noProof="0" dirty="0">
                  <a:solidFill>
                    <a:srgbClr val="0E172C"/>
                  </a:solidFill>
                  <a:latin typeface="Georgia"/>
                  <a:ea typeface="Georgia"/>
                  <a:cs typeface="Georgia"/>
                  <a:sym typeface="Georgia"/>
                </a:rPr>
                <a:t>Process &amp; Teamwork</a:t>
              </a:r>
            </a:p>
          </p:txBody>
        </p:sp>
      </p:grpSp>
      <p:pic>
        <p:nvPicPr>
          <p:cNvPr id="541" name="Google Shape;541;p37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953500" y="176213"/>
            <a:ext cx="52500" cy="479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E69AEA9-98DF-2252-F27E-45840C6EA0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72000" y="1100000"/>
            <a:ext cx="2800000" cy="2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948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9">
          <a:extLst>
            <a:ext uri="{FF2B5EF4-FFF2-40B4-BE49-F238E27FC236}">
              <a16:creationId xmlns:a16="http://schemas.microsoft.com/office/drawing/2014/main" id="{C90532CA-3BCE-95F9-E0F4-A0791C4E4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37">
            <a:extLst>
              <a:ext uri="{FF2B5EF4-FFF2-40B4-BE49-F238E27FC236}">
                <a16:creationId xmlns:a16="http://schemas.microsoft.com/office/drawing/2014/main" id="{99871E56-4F59-0675-F471-97CF06A90E05}"/>
              </a:ext>
            </a:extLst>
          </p:cNvPr>
          <p:cNvSpPr/>
          <p:nvPr/>
        </p:nvSpPr>
        <p:spPr>
          <a:xfrm>
            <a:off x="0" y="0"/>
            <a:ext cx="9144002" cy="5143500"/>
          </a:xfrm>
          <a:prstGeom prst="rect">
            <a:avLst/>
          </a:prstGeom>
          <a:solidFill>
            <a:srgbClr val="FEC7D7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sz="14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11" name="Google Shape;511;p37" descr="A high-quality, subtle texture of vintage, hand-made sketchbook paper with slight grain and organic imperfections.">
            <a:extLst>
              <a:ext uri="{FF2B5EF4-FFF2-40B4-BE49-F238E27FC236}">
                <a16:creationId xmlns:a16="http://schemas.microsoft.com/office/drawing/2014/main" id="{92BA83A7-DCB0-3F07-97D5-F0CDC7CD38AB}"/>
              </a:ext>
            </a:extLst>
          </p:cNvPr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12" name="Google Shape;512;p37">
            <a:extLst>
              <a:ext uri="{FF2B5EF4-FFF2-40B4-BE49-F238E27FC236}">
                <a16:creationId xmlns:a16="http://schemas.microsoft.com/office/drawing/2014/main" id="{9D1F6B62-DF90-0C56-9C0A-1DCD8C5124EE}"/>
              </a:ext>
            </a:extLst>
          </p:cNvPr>
          <p:cNvSpPr txBox="1"/>
          <p:nvPr/>
        </p:nvSpPr>
        <p:spPr>
          <a:xfrm>
            <a:off x="342986" y="480060"/>
            <a:ext cx="6173744" cy="377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 b="1" i="0" u="none" strike="noStrike" cap="none" noProof="0" dirty="0">
                <a:solidFill>
                  <a:srgbClr val="0E172C"/>
                </a:solidFill>
                <a:latin typeface="Georgia"/>
                <a:ea typeface="Georgia"/>
                <a:cs typeface="Georgia"/>
                <a:sym typeface="Georgia"/>
              </a:rPr>
              <a:t>How we built it together</a:t>
            </a:r>
            <a:endParaRPr lang="en-GB" sz="1100" noProof="0" dirty="0"/>
          </a:p>
        </p:txBody>
      </p:sp>
      <p:grpSp>
        <p:nvGrpSpPr>
          <p:cNvPr id="538" name="Google Shape;538;p37">
            <a:extLst>
              <a:ext uri="{FF2B5EF4-FFF2-40B4-BE49-F238E27FC236}">
                <a16:creationId xmlns:a16="http://schemas.microsoft.com/office/drawing/2014/main" id="{F3F0FD82-A601-7995-BDEB-D008FEB32F45}"/>
              </a:ext>
            </a:extLst>
          </p:cNvPr>
          <p:cNvGrpSpPr/>
          <p:nvPr/>
        </p:nvGrpSpPr>
        <p:grpSpPr>
          <a:xfrm>
            <a:off x="445875" y="178625"/>
            <a:ext cx="1266900" cy="238200"/>
            <a:chOff x="445875" y="178625"/>
            <a:chExt cx="1266900" cy="238200"/>
          </a:xfrm>
        </p:grpSpPr>
        <p:pic>
          <p:nvPicPr>
            <p:cNvPr id="539" name="Google Shape;539;p37">
              <a:extLst>
                <a:ext uri="{FF2B5EF4-FFF2-40B4-BE49-F238E27FC236}">
                  <a16:creationId xmlns:a16="http://schemas.microsoft.com/office/drawing/2014/main" id="{710D896B-8C3D-4D0A-1EDD-EA3A386A8844}"/>
                </a:ext>
              </a:extLst>
            </p:cNvPr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445875" y="178625"/>
              <a:ext cx="1266900" cy="238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0" name="Google Shape;540;p37">
              <a:extLst>
                <a:ext uri="{FF2B5EF4-FFF2-40B4-BE49-F238E27FC236}">
                  <a16:creationId xmlns:a16="http://schemas.microsoft.com/office/drawing/2014/main" id="{CC92D28A-566E-6A55-2DB0-BDF34557FBB9}"/>
                </a:ext>
              </a:extLst>
            </p:cNvPr>
            <p:cNvSpPr txBox="1"/>
            <p:nvPr/>
          </p:nvSpPr>
          <p:spPr>
            <a:xfrm>
              <a:off x="507825" y="192875"/>
              <a:ext cx="11430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 b="1" noProof="0" dirty="0">
                  <a:solidFill>
                    <a:srgbClr val="0E172C"/>
                  </a:solidFill>
                  <a:latin typeface="Georgia"/>
                  <a:ea typeface="Georgia"/>
                  <a:cs typeface="Georgia"/>
                  <a:sym typeface="Georgia"/>
                </a:rPr>
                <a:t>Process &amp; Teamwork</a:t>
              </a:r>
            </a:p>
          </p:txBody>
        </p:sp>
      </p:grpSp>
      <p:pic>
        <p:nvPicPr>
          <p:cNvPr id="541" name="Google Shape;541;p37">
            <a:extLst>
              <a:ext uri="{FF2B5EF4-FFF2-40B4-BE49-F238E27FC236}">
                <a16:creationId xmlns:a16="http://schemas.microsoft.com/office/drawing/2014/main" id="{996CB89E-B8EE-B014-0A05-FD9F9C96DF5D}"/>
              </a:ext>
            </a:extLst>
          </p:cNvPr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953500" y="176213"/>
            <a:ext cx="52500" cy="479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FBD0591-D472-934D-4BE4-A1B093F7D5B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72000" y="1100000"/>
            <a:ext cx="2800000" cy="2800000"/>
          </a:xfrm>
          <a:prstGeom prst="rect">
            <a:avLst/>
          </a:prstGeom>
        </p:spPr>
      </p:pic>
      <p:sp>
        <p:nvSpPr>
          <p:cNvPr id="7" name="Google Shape;513;p37">
            <a:extLst>
              <a:ext uri="{FF2B5EF4-FFF2-40B4-BE49-F238E27FC236}">
                <a16:creationId xmlns:a16="http://schemas.microsoft.com/office/drawing/2014/main" id="{375432C9-BBC7-2C67-103E-AA98DFAE5AB3}"/>
              </a:ext>
            </a:extLst>
          </p:cNvPr>
          <p:cNvSpPr/>
          <p:nvPr/>
        </p:nvSpPr>
        <p:spPr>
          <a:xfrm>
            <a:off x="472000" y="1471750"/>
            <a:ext cx="4100000" cy="2200000"/>
          </a:xfrm>
          <a:prstGeom prst="rect">
            <a:avLst/>
          </a:prstGeom>
          <a:solidFill>
            <a:srgbClr val="F9F8FC"/>
          </a:solidFill>
          <a:ln w="25400" cap="flat" cmpd="sng">
            <a:solidFill>
              <a:srgbClr val="0E172C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sz="14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514;p37">
            <a:extLst>
              <a:ext uri="{FF2B5EF4-FFF2-40B4-BE49-F238E27FC236}">
                <a16:creationId xmlns:a16="http://schemas.microsoft.com/office/drawing/2014/main" id="{A26070E6-13B3-93F5-1F3F-28FEB0882B98}"/>
              </a:ext>
            </a:extLst>
          </p:cNvPr>
          <p:cNvSpPr txBox="1"/>
          <p:nvPr/>
        </p:nvSpPr>
        <p:spPr>
          <a:xfrm>
            <a:off x="574896" y="1540330"/>
            <a:ext cx="3841441" cy="24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i="0" u="none" strike="noStrike" cap="none" noProof="0" dirty="0">
                <a:solidFill>
                  <a:srgbClr val="0E172C"/>
                </a:solidFill>
                <a:latin typeface="Georgia"/>
                <a:ea typeface="Georgia"/>
                <a:cs typeface="Georgia"/>
                <a:sym typeface="Georgia"/>
              </a:rPr>
              <a:t>Roles</a:t>
            </a:r>
            <a:endParaRPr lang="en-GB" sz="1800" noProof="0" dirty="0"/>
          </a:p>
        </p:txBody>
      </p:sp>
      <p:sp>
        <p:nvSpPr>
          <p:cNvPr id="9" name="Google Shape;515;p37">
            <a:extLst>
              <a:ext uri="{FF2B5EF4-FFF2-40B4-BE49-F238E27FC236}">
                <a16:creationId xmlns:a16="http://schemas.microsoft.com/office/drawing/2014/main" id="{BD4B71CF-F2AB-E477-42CD-113FCF22EFA8}"/>
              </a:ext>
            </a:extLst>
          </p:cNvPr>
          <p:cNvSpPr txBox="1"/>
          <p:nvPr/>
        </p:nvSpPr>
        <p:spPr>
          <a:xfrm>
            <a:off x="619514" y="2291164"/>
            <a:ext cx="3900000" cy="961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i="0" u="none" strike="noStrike" cap="none" noProof="0" dirty="0">
                <a:solidFill>
                  <a:srgbClr val="0E172C"/>
                </a:solidFill>
                <a:latin typeface="Georgia"/>
                <a:ea typeface="Georgia"/>
                <a:cs typeface="Georgia"/>
                <a:sym typeface="Georgia"/>
              </a:rPr>
              <a:t>Ray Wang</a:t>
            </a:r>
            <a:endParaRPr lang="en-GB" sz="1600" b="1" i="0" u="none" strike="noStrike" cap="none" dirty="0">
              <a:ea typeface="Georgi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0E172C"/>
                </a:solidFill>
                <a:latin typeface="Georgia"/>
                <a:ea typeface="Georgia"/>
                <a:cs typeface="Georgia"/>
                <a:sym typeface="Georgia"/>
              </a:rPr>
              <a:t>Level Design</a:t>
            </a:r>
          </a:p>
          <a:p>
            <a:pPr lvl="0"/>
            <a:r>
              <a:rPr lang="en-GB" dirty="0">
                <a:solidFill>
                  <a:srgbClr val="0E172C"/>
                </a:solidFill>
                <a:latin typeface="Georgia"/>
                <a:ea typeface="Georgia"/>
                <a:cs typeface="Georgia"/>
                <a:sym typeface="Georgia"/>
              </a:rPr>
              <a:t>Balancing</a:t>
            </a:r>
          </a:p>
          <a:p>
            <a:pPr lvl="0"/>
            <a:r>
              <a:rPr lang="en-GB" dirty="0">
                <a:solidFill>
                  <a:srgbClr val="0E172C"/>
                </a:solidFill>
                <a:latin typeface="Georgia"/>
                <a:ea typeface="Georgia"/>
                <a:cs typeface="Georgia"/>
                <a:sym typeface="Georgia"/>
              </a:rPr>
              <a:t>Co-Script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69540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9">
          <a:extLst>
            <a:ext uri="{FF2B5EF4-FFF2-40B4-BE49-F238E27FC236}">
              <a16:creationId xmlns:a16="http://schemas.microsoft.com/office/drawing/2014/main" id="{413025C5-8FEA-E294-559C-185AEE685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37">
            <a:extLst>
              <a:ext uri="{FF2B5EF4-FFF2-40B4-BE49-F238E27FC236}">
                <a16:creationId xmlns:a16="http://schemas.microsoft.com/office/drawing/2014/main" id="{5AFFD6DB-9683-600E-E5EB-5BCC329836A7}"/>
              </a:ext>
            </a:extLst>
          </p:cNvPr>
          <p:cNvSpPr/>
          <p:nvPr/>
        </p:nvSpPr>
        <p:spPr>
          <a:xfrm>
            <a:off x="0" y="0"/>
            <a:ext cx="9144002" cy="5143500"/>
          </a:xfrm>
          <a:prstGeom prst="rect">
            <a:avLst/>
          </a:prstGeom>
          <a:solidFill>
            <a:srgbClr val="FEC7D7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sz="14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11" name="Google Shape;511;p37" descr="A high-quality, subtle texture of vintage, hand-made sketchbook paper with slight grain and organic imperfections.">
            <a:extLst>
              <a:ext uri="{FF2B5EF4-FFF2-40B4-BE49-F238E27FC236}">
                <a16:creationId xmlns:a16="http://schemas.microsoft.com/office/drawing/2014/main" id="{3AC62AE9-1BF0-D32D-A8D9-169974479BB7}"/>
              </a:ext>
            </a:extLst>
          </p:cNvPr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12" name="Google Shape;512;p37">
            <a:extLst>
              <a:ext uri="{FF2B5EF4-FFF2-40B4-BE49-F238E27FC236}">
                <a16:creationId xmlns:a16="http://schemas.microsoft.com/office/drawing/2014/main" id="{C118351B-07EE-FEB3-CAFC-408E36C3AA03}"/>
              </a:ext>
            </a:extLst>
          </p:cNvPr>
          <p:cNvSpPr txBox="1"/>
          <p:nvPr/>
        </p:nvSpPr>
        <p:spPr>
          <a:xfrm>
            <a:off x="342986" y="480060"/>
            <a:ext cx="6173744" cy="377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 b="1" i="0" u="none" strike="noStrike" cap="none" noProof="0" dirty="0">
                <a:solidFill>
                  <a:srgbClr val="0E172C"/>
                </a:solidFill>
                <a:latin typeface="Georgia"/>
                <a:ea typeface="Georgia"/>
                <a:cs typeface="Georgia"/>
                <a:sym typeface="Georgia"/>
              </a:rPr>
              <a:t>How we built it together</a:t>
            </a:r>
            <a:endParaRPr lang="en-GB" sz="1100" noProof="0" dirty="0"/>
          </a:p>
        </p:txBody>
      </p:sp>
      <p:grpSp>
        <p:nvGrpSpPr>
          <p:cNvPr id="538" name="Google Shape;538;p37">
            <a:extLst>
              <a:ext uri="{FF2B5EF4-FFF2-40B4-BE49-F238E27FC236}">
                <a16:creationId xmlns:a16="http://schemas.microsoft.com/office/drawing/2014/main" id="{60015D97-5AD4-7BE5-6632-3CC3DB92B94C}"/>
              </a:ext>
            </a:extLst>
          </p:cNvPr>
          <p:cNvGrpSpPr/>
          <p:nvPr/>
        </p:nvGrpSpPr>
        <p:grpSpPr>
          <a:xfrm>
            <a:off x="445875" y="178625"/>
            <a:ext cx="1266900" cy="238200"/>
            <a:chOff x="445875" y="178625"/>
            <a:chExt cx="1266900" cy="238200"/>
          </a:xfrm>
        </p:grpSpPr>
        <p:pic>
          <p:nvPicPr>
            <p:cNvPr id="539" name="Google Shape;539;p37">
              <a:extLst>
                <a:ext uri="{FF2B5EF4-FFF2-40B4-BE49-F238E27FC236}">
                  <a16:creationId xmlns:a16="http://schemas.microsoft.com/office/drawing/2014/main" id="{C494C754-DDB3-AE60-7F13-9F2F71DBFC28}"/>
                </a:ext>
              </a:extLst>
            </p:cNvPr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445875" y="178625"/>
              <a:ext cx="1266900" cy="238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0" name="Google Shape;540;p37">
              <a:extLst>
                <a:ext uri="{FF2B5EF4-FFF2-40B4-BE49-F238E27FC236}">
                  <a16:creationId xmlns:a16="http://schemas.microsoft.com/office/drawing/2014/main" id="{A7502FF8-1B85-473A-E608-8A3F9C66E2E4}"/>
                </a:ext>
              </a:extLst>
            </p:cNvPr>
            <p:cNvSpPr txBox="1"/>
            <p:nvPr/>
          </p:nvSpPr>
          <p:spPr>
            <a:xfrm>
              <a:off x="507825" y="192875"/>
              <a:ext cx="11430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 b="1" noProof="0" dirty="0">
                  <a:solidFill>
                    <a:srgbClr val="0E172C"/>
                  </a:solidFill>
                  <a:latin typeface="Georgia"/>
                  <a:ea typeface="Georgia"/>
                  <a:cs typeface="Georgia"/>
                  <a:sym typeface="Georgia"/>
                </a:rPr>
                <a:t>Process &amp; Teamwork</a:t>
              </a:r>
            </a:p>
          </p:txBody>
        </p:sp>
      </p:grpSp>
      <p:pic>
        <p:nvPicPr>
          <p:cNvPr id="541" name="Google Shape;541;p37">
            <a:extLst>
              <a:ext uri="{FF2B5EF4-FFF2-40B4-BE49-F238E27FC236}">
                <a16:creationId xmlns:a16="http://schemas.microsoft.com/office/drawing/2014/main" id="{57195AAE-C581-E0D1-BB5E-0B0EEB53D56E}"/>
              </a:ext>
            </a:extLst>
          </p:cNvPr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953500" y="176213"/>
            <a:ext cx="52500" cy="479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4E8C3F7-5138-2179-80EE-808CA2F565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72000" y="1100000"/>
            <a:ext cx="2800000" cy="2800000"/>
          </a:xfrm>
          <a:prstGeom prst="rect">
            <a:avLst/>
          </a:prstGeom>
        </p:spPr>
      </p:pic>
      <p:sp>
        <p:nvSpPr>
          <p:cNvPr id="2" name="Google Shape;513;p37">
            <a:extLst>
              <a:ext uri="{FF2B5EF4-FFF2-40B4-BE49-F238E27FC236}">
                <a16:creationId xmlns:a16="http://schemas.microsoft.com/office/drawing/2014/main" id="{C77549C9-5BBD-223D-8ABF-F8D223930AC3}"/>
              </a:ext>
            </a:extLst>
          </p:cNvPr>
          <p:cNvSpPr/>
          <p:nvPr/>
        </p:nvSpPr>
        <p:spPr>
          <a:xfrm>
            <a:off x="472000" y="1471750"/>
            <a:ext cx="4100000" cy="2200000"/>
          </a:xfrm>
          <a:prstGeom prst="rect">
            <a:avLst/>
          </a:prstGeom>
          <a:solidFill>
            <a:srgbClr val="F9F8FC"/>
          </a:solidFill>
          <a:ln w="25400" cap="flat" cmpd="sng">
            <a:solidFill>
              <a:srgbClr val="0E172C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sz="14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514;p37">
            <a:extLst>
              <a:ext uri="{FF2B5EF4-FFF2-40B4-BE49-F238E27FC236}">
                <a16:creationId xmlns:a16="http://schemas.microsoft.com/office/drawing/2014/main" id="{B9DE3FCE-2212-9996-56F4-DABE5FB0AAEA}"/>
              </a:ext>
            </a:extLst>
          </p:cNvPr>
          <p:cNvSpPr txBox="1"/>
          <p:nvPr/>
        </p:nvSpPr>
        <p:spPr>
          <a:xfrm>
            <a:off x="574896" y="1540330"/>
            <a:ext cx="3841441" cy="24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i="0" u="none" strike="noStrike" cap="none" noProof="0" dirty="0">
                <a:solidFill>
                  <a:srgbClr val="0E172C"/>
                </a:solidFill>
                <a:latin typeface="Georgia"/>
                <a:ea typeface="Georgia"/>
                <a:cs typeface="Georgia"/>
                <a:sym typeface="Georgia"/>
              </a:rPr>
              <a:t>Roles</a:t>
            </a:r>
            <a:endParaRPr lang="en-GB" sz="1800" noProof="0" dirty="0"/>
          </a:p>
        </p:txBody>
      </p:sp>
      <p:sp>
        <p:nvSpPr>
          <p:cNvPr id="5" name="Google Shape;515;p37">
            <a:extLst>
              <a:ext uri="{FF2B5EF4-FFF2-40B4-BE49-F238E27FC236}">
                <a16:creationId xmlns:a16="http://schemas.microsoft.com/office/drawing/2014/main" id="{7ED6A960-C04F-8270-298B-3EE065E43344}"/>
              </a:ext>
            </a:extLst>
          </p:cNvPr>
          <p:cNvSpPr txBox="1"/>
          <p:nvPr/>
        </p:nvSpPr>
        <p:spPr>
          <a:xfrm>
            <a:off x="619514" y="2291164"/>
            <a:ext cx="3900000" cy="1084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lvl="0"/>
            <a:r>
              <a:rPr lang="en-GB" sz="1800" b="1" dirty="0">
                <a:solidFill>
                  <a:srgbClr val="0E172C"/>
                </a:solidFill>
                <a:latin typeface="Georgia"/>
                <a:ea typeface="Georgia"/>
                <a:cs typeface="Georgia"/>
                <a:sym typeface="Georgia"/>
              </a:rPr>
              <a:t>Layla Pei</a:t>
            </a:r>
            <a:endParaRPr lang="en-GB" sz="1800" dirty="0"/>
          </a:p>
          <a:p>
            <a:pPr lvl="0"/>
            <a:r>
              <a:rPr lang="en-GB" sz="1600" dirty="0">
                <a:solidFill>
                  <a:srgbClr val="0E172C"/>
                </a:solidFill>
                <a:latin typeface="Georgia"/>
                <a:ea typeface="Georgia"/>
                <a:cs typeface="Georgia"/>
                <a:sym typeface="Georgia"/>
              </a:rPr>
              <a:t>UI/UX</a:t>
            </a:r>
          </a:p>
          <a:p>
            <a:pPr lvl="0"/>
            <a:r>
              <a:rPr lang="en-GB" sz="1600" dirty="0">
                <a:solidFill>
                  <a:srgbClr val="0E172C"/>
                </a:solidFill>
                <a:latin typeface="Georgia"/>
                <a:ea typeface="Georgia"/>
                <a:cs typeface="Georgia"/>
                <a:sym typeface="Georgia"/>
              </a:rPr>
              <a:t>Audio</a:t>
            </a:r>
          </a:p>
          <a:p>
            <a:pPr lvl="0"/>
            <a:r>
              <a:rPr lang="en-GB" sz="1600" dirty="0">
                <a:solidFill>
                  <a:srgbClr val="0E172C"/>
                </a:solidFill>
                <a:latin typeface="Georgia"/>
                <a:ea typeface="Georgia"/>
                <a:cs typeface="Georgia"/>
                <a:sym typeface="Georgia"/>
              </a:rPr>
              <a:t>Co-Script</a:t>
            </a: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1819785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9">
          <a:extLst>
            <a:ext uri="{FF2B5EF4-FFF2-40B4-BE49-F238E27FC236}">
              <a16:creationId xmlns:a16="http://schemas.microsoft.com/office/drawing/2014/main" id="{94AF24ED-EBF6-88C2-0740-F3F7B05C4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37">
            <a:extLst>
              <a:ext uri="{FF2B5EF4-FFF2-40B4-BE49-F238E27FC236}">
                <a16:creationId xmlns:a16="http://schemas.microsoft.com/office/drawing/2014/main" id="{1939695D-0BBE-BEE1-0499-6F4F4EF8464F}"/>
              </a:ext>
            </a:extLst>
          </p:cNvPr>
          <p:cNvSpPr/>
          <p:nvPr/>
        </p:nvSpPr>
        <p:spPr>
          <a:xfrm>
            <a:off x="0" y="0"/>
            <a:ext cx="9144002" cy="5143500"/>
          </a:xfrm>
          <a:prstGeom prst="rect">
            <a:avLst/>
          </a:prstGeom>
          <a:solidFill>
            <a:srgbClr val="FEC7D7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sz="14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37">
            <a:extLst>
              <a:ext uri="{FF2B5EF4-FFF2-40B4-BE49-F238E27FC236}">
                <a16:creationId xmlns:a16="http://schemas.microsoft.com/office/drawing/2014/main" id="{8E44433F-E05C-C0EA-532E-1FD3E7E69DDB}"/>
              </a:ext>
            </a:extLst>
          </p:cNvPr>
          <p:cNvSpPr txBox="1"/>
          <p:nvPr/>
        </p:nvSpPr>
        <p:spPr>
          <a:xfrm>
            <a:off x="342986" y="480060"/>
            <a:ext cx="6173744" cy="377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 b="1" i="0" u="none" strike="noStrike" cap="none" noProof="0" dirty="0">
                <a:solidFill>
                  <a:srgbClr val="0E172C"/>
                </a:solidFill>
                <a:latin typeface="Georgia"/>
                <a:ea typeface="Georgia"/>
                <a:cs typeface="Georgia"/>
                <a:sym typeface="Georgia"/>
              </a:rPr>
              <a:t>How we built it together</a:t>
            </a:r>
            <a:endParaRPr lang="en-GB" sz="1100" noProof="0" dirty="0"/>
          </a:p>
        </p:txBody>
      </p:sp>
      <p:grpSp>
        <p:nvGrpSpPr>
          <p:cNvPr id="538" name="Google Shape;538;p37">
            <a:extLst>
              <a:ext uri="{FF2B5EF4-FFF2-40B4-BE49-F238E27FC236}">
                <a16:creationId xmlns:a16="http://schemas.microsoft.com/office/drawing/2014/main" id="{360DA22C-3A6F-5F27-A50D-0232B468A1F5}"/>
              </a:ext>
            </a:extLst>
          </p:cNvPr>
          <p:cNvGrpSpPr/>
          <p:nvPr/>
        </p:nvGrpSpPr>
        <p:grpSpPr>
          <a:xfrm>
            <a:off x="445875" y="178625"/>
            <a:ext cx="1266900" cy="238200"/>
            <a:chOff x="445875" y="178625"/>
            <a:chExt cx="1266900" cy="238200"/>
          </a:xfrm>
        </p:grpSpPr>
        <p:pic>
          <p:nvPicPr>
            <p:cNvPr id="539" name="Google Shape;539;p37">
              <a:extLst>
                <a:ext uri="{FF2B5EF4-FFF2-40B4-BE49-F238E27FC236}">
                  <a16:creationId xmlns:a16="http://schemas.microsoft.com/office/drawing/2014/main" id="{C653DC84-95C5-932F-83F3-E740A6EFB116}"/>
                </a:ext>
              </a:extLst>
            </p:cNvPr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445875" y="178625"/>
              <a:ext cx="1266900" cy="238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0" name="Google Shape;540;p37">
              <a:extLst>
                <a:ext uri="{FF2B5EF4-FFF2-40B4-BE49-F238E27FC236}">
                  <a16:creationId xmlns:a16="http://schemas.microsoft.com/office/drawing/2014/main" id="{21327AE5-7559-2499-2FB2-1B6BD7FBEA77}"/>
                </a:ext>
              </a:extLst>
            </p:cNvPr>
            <p:cNvSpPr txBox="1"/>
            <p:nvPr/>
          </p:nvSpPr>
          <p:spPr>
            <a:xfrm>
              <a:off x="507825" y="192875"/>
              <a:ext cx="11430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 b="1" noProof="0" dirty="0">
                  <a:solidFill>
                    <a:srgbClr val="0E172C"/>
                  </a:solidFill>
                  <a:latin typeface="Georgia"/>
                  <a:ea typeface="Georgia"/>
                  <a:cs typeface="Georgia"/>
                  <a:sym typeface="Georgia"/>
                </a:rPr>
                <a:t>Process &amp; Teamwork</a:t>
              </a:r>
            </a:p>
          </p:txBody>
        </p:sp>
      </p:grpSp>
      <p:pic>
        <p:nvPicPr>
          <p:cNvPr id="541" name="Google Shape;541;p37">
            <a:extLst>
              <a:ext uri="{FF2B5EF4-FFF2-40B4-BE49-F238E27FC236}">
                <a16:creationId xmlns:a16="http://schemas.microsoft.com/office/drawing/2014/main" id="{B35C5103-DF1E-21B6-3FFD-0BDCE4CC4F3C}"/>
              </a:ext>
            </a:extLst>
          </p:cNvPr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953500" y="176213"/>
            <a:ext cx="52500" cy="479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798EB84-3C1C-D89D-7DAC-5A56D3C560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2000" y="1100000"/>
            <a:ext cx="2800000" cy="2800000"/>
          </a:xfrm>
          <a:prstGeom prst="rect">
            <a:avLst/>
          </a:prstGeom>
        </p:spPr>
      </p:pic>
      <p:sp>
        <p:nvSpPr>
          <p:cNvPr id="2" name="Google Shape;513;p37">
            <a:extLst>
              <a:ext uri="{FF2B5EF4-FFF2-40B4-BE49-F238E27FC236}">
                <a16:creationId xmlns:a16="http://schemas.microsoft.com/office/drawing/2014/main" id="{7A211BDE-46A6-35D5-DFFE-EE2B369F0354}"/>
              </a:ext>
            </a:extLst>
          </p:cNvPr>
          <p:cNvSpPr/>
          <p:nvPr/>
        </p:nvSpPr>
        <p:spPr>
          <a:xfrm>
            <a:off x="472000" y="1471750"/>
            <a:ext cx="4100000" cy="2200000"/>
          </a:xfrm>
          <a:prstGeom prst="rect">
            <a:avLst/>
          </a:prstGeom>
          <a:solidFill>
            <a:srgbClr val="F9F8FC"/>
          </a:solidFill>
          <a:ln w="25400" cap="flat" cmpd="sng">
            <a:solidFill>
              <a:srgbClr val="0E172C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sz="14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514;p37">
            <a:extLst>
              <a:ext uri="{FF2B5EF4-FFF2-40B4-BE49-F238E27FC236}">
                <a16:creationId xmlns:a16="http://schemas.microsoft.com/office/drawing/2014/main" id="{0D089B39-B657-1E9C-989E-286BF378854F}"/>
              </a:ext>
            </a:extLst>
          </p:cNvPr>
          <p:cNvSpPr txBox="1"/>
          <p:nvPr/>
        </p:nvSpPr>
        <p:spPr>
          <a:xfrm>
            <a:off x="574896" y="1540330"/>
            <a:ext cx="3841441" cy="24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i="0" u="none" strike="noStrike" cap="none" noProof="0" dirty="0">
                <a:solidFill>
                  <a:srgbClr val="0E172C"/>
                </a:solidFill>
                <a:latin typeface="Georgia"/>
                <a:ea typeface="Georgia"/>
                <a:cs typeface="Georgia"/>
                <a:sym typeface="Georgia"/>
              </a:rPr>
              <a:t>Roles</a:t>
            </a:r>
            <a:endParaRPr lang="en-GB" sz="1800" noProof="0" dirty="0"/>
          </a:p>
        </p:txBody>
      </p:sp>
      <p:sp>
        <p:nvSpPr>
          <p:cNvPr id="5" name="Google Shape;515;p37">
            <a:extLst>
              <a:ext uri="{FF2B5EF4-FFF2-40B4-BE49-F238E27FC236}">
                <a16:creationId xmlns:a16="http://schemas.microsoft.com/office/drawing/2014/main" id="{7766E536-0133-259E-0C27-56AC58617405}"/>
              </a:ext>
            </a:extLst>
          </p:cNvPr>
          <p:cNvSpPr txBox="1"/>
          <p:nvPr/>
        </p:nvSpPr>
        <p:spPr>
          <a:xfrm>
            <a:off x="619514" y="2291164"/>
            <a:ext cx="3900000" cy="1207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lvl="0"/>
            <a:r>
              <a:rPr lang="en-GB" sz="2000" b="1" dirty="0">
                <a:solidFill>
                  <a:srgbClr val="0E172C"/>
                </a:solidFill>
                <a:latin typeface="Georgia"/>
                <a:ea typeface="Georgia"/>
                <a:cs typeface="Georgia"/>
                <a:sym typeface="Georgia"/>
              </a:rPr>
              <a:t>Lucca Zhou</a:t>
            </a:r>
            <a:endParaRPr lang="en-GB" sz="2000" dirty="0"/>
          </a:p>
          <a:p>
            <a:pPr lvl="0"/>
            <a:r>
              <a:rPr lang="en-GB" sz="1800" dirty="0">
                <a:solidFill>
                  <a:srgbClr val="0E172C"/>
                </a:solidFill>
                <a:latin typeface="Georgia"/>
                <a:ea typeface="Georgia"/>
                <a:cs typeface="Georgia"/>
                <a:sym typeface="Georgia"/>
              </a:rPr>
              <a:t>Aesthetic Design</a:t>
            </a:r>
          </a:p>
          <a:p>
            <a:pPr lvl="0"/>
            <a:r>
              <a:rPr lang="en-GB" sz="1800" dirty="0">
                <a:solidFill>
                  <a:srgbClr val="0E172C"/>
                </a:solidFill>
                <a:latin typeface="Georgia"/>
                <a:ea typeface="Georgia"/>
                <a:cs typeface="Georgia"/>
                <a:sym typeface="Georgia"/>
              </a:rPr>
              <a:t>Assets</a:t>
            </a:r>
          </a:p>
          <a:p>
            <a:pPr lvl="0"/>
            <a:r>
              <a:rPr lang="en-GB" sz="1800" dirty="0">
                <a:solidFill>
                  <a:srgbClr val="0E172C"/>
                </a:solidFill>
                <a:latin typeface="Georgia"/>
                <a:ea typeface="Georgia"/>
                <a:cs typeface="Georgia"/>
                <a:sym typeface="Georgia"/>
              </a:rPr>
              <a:t>Co-Script</a:t>
            </a:r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2883400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37"/>
          <p:cNvSpPr/>
          <p:nvPr/>
        </p:nvSpPr>
        <p:spPr>
          <a:xfrm>
            <a:off x="0" y="0"/>
            <a:ext cx="9144002" cy="5143500"/>
          </a:xfrm>
          <a:prstGeom prst="rect">
            <a:avLst/>
          </a:prstGeom>
          <a:solidFill>
            <a:srgbClr val="FEC7D7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sz="14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11" name="Google Shape;511;p37" descr="A high-quality, subtle texture of vintage, hand-made sketchbook paper with slight grain and organic imperfections.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12" name="Google Shape;512;p37"/>
          <p:cNvSpPr txBox="1"/>
          <p:nvPr/>
        </p:nvSpPr>
        <p:spPr>
          <a:xfrm>
            <a:off x="342986" y="480060"/>
            <a:ext cx="6173744" cy="377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 b="1" i="0" u="none" strike="noStrike" cap="none" noProof="0" dirty="0">
                <a:solidFill>
                  <a:srgbClr val="0E172C"/>
                </a:solidFill>
                <a:latin typeface="Georgia"/>
                <a:ea typeface="Georgia"/>
                <a:cs typeface="Georgia"/>
                <a:sym typeface="Georgia"/>
              </a:rPr>
              <a:t>How we built it together</a:t>
            </a:r>
            <a:endParaRPr lang="en-GB" sz="1100" noProof="0" dirty="0"/>
          </a:p>
        </p:txBody>
      </p:sp>
      <p:sp>
        <p:nvSpPr>
          <p:cNvPr id="520" name="Google Shape;520;p37"/>
          <p:cNvSpPr/>
          <p:nvPr/>
        </p:nvSpPr>
        <p:spPr>
          <a:xfrm>
            <a:off x="327693" y="1054654"/>
            <a:ext cx="3862933" cy="3346523"/>
          </a:xfrm>
          <a:prstGeom prst="rect">
            <a:avLst/>
          </a:prstGeom>
          <a:solidFill>
            <a:srgbClr val="F9F8FC"/>
          </a:solidFill>
          <a:ln w="25400" cap="flat" cmpd="sng">
            <a:solidFill>
              <a:srgbClr val="0E172C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sz="14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37"/>
          <p:cNvSpPr txBox="1"/>
          <p:nvPr/>
        </p:nvSpPr>
        <p:spPr>
          <a:xfrm>
            <a:off x="406581" y="1201490"/>
            <a:ext cx="3841441" cy="24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i="0" u="none" strike="noStrike" cap="none" noProof="0" dirty="0">
                <a:solidFill>
                  <a:srgbClr val="0E172C"/>
                </a:solidFill>
                <a:latin typeface="Georgia"/>
                <a:ea typeface="Georgia"/>
                <a:cs typeface="Georgia"/>
                <a:sym typeface="Georgia"/>
              </a:rPr>
              <a:t>Strengths</a:t>
            </a:r>
            <a:endParaRPr lang="en-GB" sz="1100" noProof="0" dirty="0"/>
          </a:p>
        </p:txBody>
      </p:sp>
      <p:sp>
        <p:nvSpPr>
          <p:cNvPr id="522" name="Google Shape;522;p37"/>
          <p:cNvSpPr txBox="1"/>
          <p:nvPr/>
        </p:nvSpPr>
        <p:spPr>
          <a:xfrm>
            <a:off x="406581" y="1757290"/>
            <a:ext cx="3700330" cy="15465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0" i="0" u="none" strike="noStrike" cap="none" noProof="0" dirty="0">
                <a:solidFill>
                  <a:srgbClr val="A786DF"/>
                </a:solidFill>
                <a:latin typeface="Georgia"/>
                <a:ea typeface="Georgia"/>
                <a:cs typeface="Georgia"/>
                <a:sym typeface="Georgia"/>
              </a:rPr>
              <a:t>✦  </a:t>
            </a:r>
            <a:r>
              <a:rPr lang="en-GB" sz="1600" b="0" i="0" u="none" strike="noStrike" cap="none" noProof="0" dirty="0">
                <a:solidFill>
                  <a:srgbClr val="0E172C"/>
                </a:solidFill>
                <a:latin typeface="Georgia"/>
                <a:ea typeface="Georgia"/>
                <a:cs typeface="Georgia"/>
                <a:sym typeface="Georgia"/>
              </a:rPr>
              <a:t>Logic-first, art-later workflow</a:t>
            </a:r>
            <a:endParaRPr lang="en-GB" sz="1800" noProof="0"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0" i="0" u="none" strike="noStrike" cap="none" noProof="0" dirty="0">
                <a:solidFill>
                  <a:srgbClr val="A786DF"/>
                </a:solidFill>
                <a:latin typeface="Georgia"/>
                <a:ea typeface="Georgia"/>
                <a:cs typeface="Georgia"/>
                <a:sym typeface="Georgia"/>
              </a:rPr>
              <a:t>✦  </a:t>
            </a:r>
            <a:r>
              <a:rPr lang="en-GB" sz="1600" b="0" i="0" u="none" strike="noStrike" cap="none" noProof="0" dirty="0">
                <a:solidFill>
                  <a:srgbClr val="0E172C"/>
                </a:solidFill>
                <a:latin typeface="Georgia"/>
                <a:ea typeface="Georgia"/>
                <a:cs typeface="Georgia"/>
                <a:sym typeface="Georgia"/>
              </a:rPr>
              <a:t>Fortnightly sprints, deadline-synced</a:t>
            </a:r>
            <a:endParaRPr lang="en-GB" sz="1800" noProof="0"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0" i="0" u="none" strike="noStrike" cap="none" noProof="0" dirty="0">
                <a:solidFill>
                  <a:srgbClr val="A786DF"/>
                </a:solidFill>
                <a:latin typeface="Georgia"/>
                <a:ea typeface="Georgia"/>
                <a:cs typeface="Georgia"/>
                <a:sym typeface="Georgia"/>
              </a:rPr>
              <a:t>✦  </a:t>
            </a:r>
            <a:r>
              <a:rPr lang="en-GB" sz="1600" b="0" i="0" u="none" strike="noStrike" cap="none" noProof="0" dirty="0">
                <a:solidFill>
                  <a:srgbClr val="0E172C"/>
                </a:solidFill>
                <a:latin typeface="Georgia"/>
                <a:ea typeface="Georgia"/>
                <a:cs typeface="Georgia"/>
                <a:sym typeface="Georgia"/>
              </a:rPr>
              <a:t>Custom Testing Panel for rapid QA</a:t>
            </a:r>
            <a:endParaRPr lang="en-GB" sz="1800" noProof="0"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0" i="0" u="none" strike="noStrike" cap="none" noProof="0" dirty="0">
                <a:solidFill>
                  <a:srgbClr val="A786DF"/>
                </a:solidFill>
                <a:latin typeface="Georgia"/>
                <a:ea typeface="Georgia"/>
                <a:cs typeface="Georgia"/>
                <a:sym typeface="Georgia"/>
              </a:rPr>
              <a:t>✦  </a:t>
            </a:r>
            <a:r>
              <a:rPr lang="en-GB" sz="1600" b="0" i="0" u="none" strike="noStrike" cap="none" noProof="0" dirty="0">
                <a:solidFill>
                  <a:srgbClr val="0E172C"/>
                </a:solidFill>
                <a:latin typeface="Georgia"/>
                <a:ea typeface="Georgia"/>
                <a:cs typeface="Georgia"/>
                <a:sym typeface="Georgia"/>
              </a:rPr>
              <a:t>Jira-tracked PR workflow</a:t>
            </a:r>
            <a:endParaRPr lang="en-GB" sz="1800" noProof="0" dirty="0"/>
          </a:p>
        </p:txBody>
      </p:sp>
      <p:sp>
        <p:nvSpPr>
          <p:cNvPr id="523" name="Google Shape;523;p37"/>
          <p:cNvSpPr/>
          <p:nvPr/>
        </p:nvSpPr>
        <p:spPr>
          <a:xfrm>
            <a:off x="4445552" y="1054655"/>
            <a:ext cx="3862933" cy="3346522"/>
          </a:xfrm>
          <a:prstGeom prst="rect">
            <a:avLst/>
          </a:prstGeom>
          <a:solidFill>
            <a:srgbClr val="FFF8E8"/>
          </a:solidFill>
          <a:ln w="25400" cap="flat" cmpd="sng">
            <a:solidFill>
              <a:srgbClr val="0E172C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sz="14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37"/>
          <p:cNvSpPr txBox="1"/>
          <p:nvPr/>
        </p:nvSpPr>
        <p:spPr>
          <a:xfrm>
            <a:off x="4572000" y="1161505"/>
            <a:ext cx="4013980" cy="3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i="0" u="none" strike="noStrike" cap="none" noProof="0" dirty="0">
                <a:solidFill>
                  <a:srgbClr val="C07020"/>
                </a:solidFill>
                <a:latin typeface="Georgia"/>
                <a:ea typeface="Georgia"/>
                <a:cs typeface="Georgia"/>
                <a:sym typeface="Georgia"/>
              </a:rPr>
              <a:t>Challenges</a:t>
            </a:r>
            <a:endParaRPr lang="en-GB" sz="1100" noProof="0" dirty="0"/>
          </a:p>
        </p:txBody>
      </p:sp>
      <p:sp>
        <p:nvSpPr>
          <p:cNvPr id="525" name="Google Shape;525;p37"/>
          <p:cNvSpPr txBox="1"/>
          <p:nvPr/>
        </p:nvSpPr>
        <p:spPr>
          <a:xfrm>
            <a:off x="4600659" y="1658798"/>
            <a:ext cx="3552718" cy="1915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0" i="0" u="none" strike="noStrike" cap="none" noProof="0" dirty="0">
                <a:solidFill>
                  <a:srgbClr val="C07020"/>
                </a:solidFill>
                <a:latin typeface="Georgia"/>
                <a:ea typeface="Georgia"/>
                <a:cs typeface="Georgia"/>
                <a:sym typeface="Georgia"/>
              </a:rPr>
              <a:t>✦  </a:t>
            </a:r>
            <a:r>
              <a:rPr lang="en-GB" sz="1600" b="0" i="0" u="none" strike="noStrike" cap="none" noProof="0" dirty="0">
                <a:solidFill>
                  <a:srgbClr val="0E172C"/>
                </a:solidFill>
                <a:latin typeface="Georgia"/>
                <a:ea typeface="Georgia"/>
                <a:cs typeface="Georgia"/>
                <a:sym typeface="Georgia"/>
              </a:rPr>
              <a:t>5th member left — team of 4 absorbed all work</a:t>
            </a:r>
            <a:endParaRPr lang="en-GB" sz="1100" noProof="0"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0" i="0" u="none" strike="noStrike" cap="none" noProof="0" dirty="0">
                <a:solidFill>
                  <a:srgbClr val="C07020"/>
                </a:solidFill>
                <a:latin typeface="Georgia"/>
                <a:ea typeface="Georgia"/>
                <a:cs typeface="Georgia"/>
                <a:sym typeface="Georgia"/>
              </a:rPr>
              <a:t>✦  </a:t>
            </a:r>
            <a:r>
              <a:rPr lang="en-GB" sz="1600" b="0" i="0" u="none" strike="noStrike" cap="none" noProof="0" dirty="0">
                <a:solidFill>
                  <a:srgbClr val="0E172C"/>
                </a:solidFill>
                <a:latin typeface="Georgia"/>
                <a:ea typeface="Georgia"/>
                <a:cs typeface="Georgia"/>
                <a:sym typeface="Georgia"/>
              </a:rPr>
              <a:t>Tutorial overhaul after Week 8 playtesting</a:t>
            </a:r>
            <a:endParaRPr lang="en-GB" sz="1100" noProof="0"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0" i="0" u="none" strike="noStrike" cap="none" noProof="0" dirty="0">
                <a:solidFill>
                  <a:srgbClr val="C07020"/>
                </a:solidFill>
                <a:latin typeface="Georgia"/>
                <a:ea typeface="Georgia"/>
                <a:cs typeface="Georgia"/>
                <a:sym typeface="Georgia"/>
              </a:rPr>
              <a:t>✦  </a:t>
            </a:r>
            <a:r>
              <a:rPr lang="en-GB" sz="1600" b="0" i="0" u="none" strike="noStrike" cap="none" noProof="0" dirty="0">
                <a:solidFill>
                  <a:srgbClr val="0E172C"/>
                </a:solidFill>
                <a:latin typeface="Georgia"/>
                <a:ea typeface="Georgia"/>
                <a:cs typeface="Georgia"/>
                <a:sym typeface="Georgia"/>
              </a:rPr>
              <a:t>Delayed feature-freeze for UX fixes</a:t>
            </a:r>
            <a:endParaRPr lang="en-GB" sz="1100" noProof="0" dirty="0"/>
          </a:p>
        </p:txBody>
      </p:sp>
      <p:grpSp>
        <p:nvGrpSpPr>
          <p:cNvPr id="538" name="Google Shape;538;p37"/>
          <p:cNvGrpSpPr/>
          <p:nvPr/>
        </p:nvGrpSpPr>
        <p:grpSpPr>
          <a:xfrm>
            <a:off x="445875" y="178625"/>
            <a:ext cx="1266900" cy="238200"/>
            <a:chOff x="445875" y="178625"/>
            <a:chExt cx="1266900" cy="238200"/>
          </a:xfrm>
        </p:grpSpPr>
        <p:pic>
          <p:nvPicPr>
            <p:cNvPr id="539" name="Google Shape;539;p37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445875" y="178625"/>
              <a:ext cx="1266900" cy="238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0" name="Google Shape;540;p37"/>
            <p:cNvSpPr txBox="1"/>
            <p:nvPr/>
          </p:nvSpPr>
          <p:spPr>
            <a:xfrm>
              <a:off x="507825" y="192875"/>
              <a:ext cx="11430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 b="1" noProof="0" dirty="0">
                  <a:solidFill>
                    <a:srgbClr val="0E172C"/>
                  </a:solidFill>
                  <a:latin typeface="Georgia"/>
                  <a:ea typeface="Georgia"/>
                  <a:cs typeface="Georgia"/>
                  <a:sym typeface="Georgia"/>
                </a:rPr>
                <a:t>Process &amp; Teamwork</a:t>
              </a:r>
            </a:p>
          </p:txBody>
        </p:sp>
      </p:grpSp>
      <p:pic>
        <p:nvPicPr>
          <p:cNvPr id="541" name="Google Shape;541;p37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953500" y="176213"/>
            <a:ext cx="52500" cy="479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9">
          <a:extLst>
            <a:ext uri="{FF2B5EF4-FFF2-40B4-BE49-F238E27FC236}">
              <a16:creationId xmlns:a16="http://schemas.microsoft.com/office/drawing/2014/main" id="{9A2E462B-C4F1-FAF7-8789-D4A27C0D7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37">
            <a:extLst>
              <a:ext uri="{FF2B5EF4-FFF2-40B4-BE49-F238E27FC236}">
                <a16:creationId xmlns:a16="http://schemas.microsoft.com/office/drawing/2014/main" id="{F9908D48-7107-C401-D9B0-6372C09F08EB}"/>
              </a:ext>
            </a:extLst>
          </p:cNvPr>
          <p:cNvSpPr/>
          <p:nvPr/>
        </p:nvSpPr>
        <p:spPr>
          <a:xfrm>
            <a:off x="0" y="0"/>
            <a:ext cx="9144002" cy="5143500"/>
          </a:xfrm>
          <a:prstGeom prst="rect">
            <a:avLst/>
          </a:prstGeom>
          <a:solidFill>
            <a:srgbClr val="FEC7D7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sz="14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11" name="Google Shape;511;p37" descr="A high-quality, subtle texture of vintage, hand-made sketchbook paper with slight grain and organic imperfections.">
            <a:extLst>
              <a:ext uri="{FF2B5EF4-FFF2-40B4-BE49-F238E27FC236}">
                <a16:creationId xmlns:a16="http://schemas.microsoft.com/office/drawing/2014/main" id="{850FC3CC-3AE8-F95E-BB96-98442F1BB4D5}"/>
              </a:ext>
            </a:extLst>
          </p:cNvPr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12" name="Google Shape;512;p37">
            <a:extLst>
              <a:ext uri="{FF2B5EF4-FFF2-40B4-BE49-F238E27FC236}">
                <a16:creationId xmlns:a16="http://schemas.microsoft.com/office/drawing/2014/main" id="{101FE35E-C7CD-B482-97EE-F5F2E4C827D3}"/>
              </a:ext>
            </a:extLst>
          </p:cNvPr>
          <p:cNvSpPr txBox="1"/>
          <p:nvPr/>
        </p:nvSpPr>
        <p:spPr>
          <a:xfrm>
            <a:off x="342986" y="480060"/>
            <a:ext cx="6173744" cy="377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 b="1" i="0" u="none" strike="noStrike" cap="none" noProof="0" dirty="0">
                <a:solidFill>
                  <a:srgbClr val="0E172C"/>
                </a:solidFill>
                <a:latin typeface="Georgia"/>
                <a:ea typeface="Georgia"/>
                <a:cs typeface="Georgia"/>
                <a:sym typeface="Georgia"/>
              </a:rPr>
              <a:t>How we built it together</a:t>
            </a:r>
            <a:endParaRPr lang="en-GB" sz="1100" noProof="0" dirty="0"/>
          </a:p>
        </p:txBody>
      </p:sp>
      <p:grpSp>
        <p:nvGrpSpPr>
          <p:cNvPr id="538" name="Google Shape;538;p37">
            <a:extLst>
              <a:ext uri="{FF2B5EF4-FFF2-40B4-BE49-F238E27FC236}">
                <a16:creationId xmlns:a16="http://schemas.microsoft.com/office/drawing/2014/main" id="{EE03FC80-BFE1-F45C-4E6F-E54F4D240C05}"/>
              </a:ext>
            </a:extLst>
          </p:cNvPr>
          <p:cNvGrpSpPr/>
          <p:nvPr/>
        </p:nvGrpSpPr>
        <p:grpSpPr>
          <a:xfrm>
            <a:off x="445875" y="178625"/>
            <a:ext cx="1266900" cy="238200"/>
            <a:chOff x="445875" y="178625"/>
            <a:chExt cx="1266900" cy="238200"/>
          </a:xfrm>
        </p:grpSpPr>
        <p:pic>
          <p:nvPicPr>
            <p:cNvPr id="539" name="Google Shape;539;p37">
              <a:extLst>
                <a:ext uri="{FF2B5EF4-FFF2-40B4-BE49-F238E27FC236}">
                  <a16:creationId xmlns:a16="http://schemas.microsoft.com/office/drawing/2014/main" id="{40E4D94B-A76F-FDB3-048F-0D469EFCC1D2}"/>
                </a:ext>
              </a:extLst>
            </p:cNvPr>
            <p:cNvPicPr preferRelativeResize="0"/>
            <p:nvPr/>
          </p:nvPicPr>
          <p:blipFill rotWithShape="1">
            <a:blip r:embed="rId6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445875" y="178625"/>
              <a:ext cx="1266900" cy="238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0" name="Google Shape;540;p37">
              <a:extLst>
                <a:ext uri="{FF2B5EF4-FFF2-40B4-BE49-F238E27FC236}">
                  <a16:creationId xmlns:a16="http://schemas.microsoft.com/office/drawing/2014/main" id="{A4983023-D18B-160F-92C3-087AAF227229}"/>
                </a:ext>
              </a:extLst>
            </p:cNvPr>
            <p:cNvSpPr txBox="1"/>
            <p:nvPr/>
          </p:nvSpPr>
          <p:spPr>
            <a:xfrm>
              <a:off x="507825" y="192875"/>
              <a:ext cx="11430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 b="1" noProof="0" dirty="0">
                  <a:solidFill>
                    <a:srgbClr val="0E172C"/>
                  </a:solidFill>
                  <a:latin typeface="Georgia"/>
                  <a:ea typeface="Georgia"/>
                  <a:cs typeface="Georgia"/>
                  <a:sym typeface="Georgia"/>
                </a:rPr>
                <a:t>Process &amp; Teamwork</a:t>
              </a:r>
            </a:p>
          </p:txBody>
        </p:sp>
      </p:grpSp>
      <p:pic>
        <p:nvPicPr>
          <p:cNvPr id="541" name="Google Shape;541;p37">
            <a:extLst>
              <a:ext uri="{FF2B5EF4-FFF2-40B4-BE49-F238E27FC236}">
                <a16:creationId xmlns:a16="http://schemas.microsoft.com/office/drawing/2014/main" id="{1F20FDA6-8EE0-D152-606A-951153A94716}"/>
              </a:ext>
            </a:extLst>
          </p:cNvPr>
          <p:cNvPicPr preferRelativeResize="0"/>
          <p:nvPr/>
        </p:nvPicPr>
        <p:blipFill rotWithShape="1"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953500" y="176213"/>
            <a:ext cx="52500" cy="47958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532;p37">
            <a:extLst>
              <a:ext uri="{FF2B5EF4-FFF2-40B4-BE49-F238E27FC236}">
                <a16:creationId xmlns:a16="http://schemas.microsoft.com/office/drawing/2014/main" id="{18D548D0-4F99-5E21-7A02-364AFEA25580}"/>
              </a:ext>
            </a:extLst>
          </p:cNvPr>
          <p:cNvSpPr/>
          <p:nvPr/>
        </p:nvSpPr>
        <p:spPr>
          <a:xfrm>
            <a:off x="1100000" y="920336"/>
            <a:ext cx="6944000" cy="3850000"/>
          </a:xfrm>
          <a:prstGeom prst="rect">
            <a:avLst/>
          </a:prstGeom>
          <a:solidFill>
            <a:srgbClr val="F9F8FC"/>
          </a:solidFill>
          <a:ln w="19050" cap="flat" cmpd="sng">
            <a:solidFill>
              <a:srgbClr val="0E172C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sz="14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534;p37">
            <a:extLst>
              <a:ext uri="{FF2B5EF4-FFF2-40B4-BE49-F238E27FC236}">
                <a16:creationId xmlns:a16="http://schemas.microsoft.com/office/drawing/2014/main" id="{73718131-9DCB-EAC7-6C1C-3328E7C9D759}"/>
              </a:ext>
            </a:extLst>
          </p:cNvPr>
          <p:cNvSpPr txBox="1"/>
          <p:nvPr/>
        </p:nvSpPr>
        <p:spPr>
          <a:xfrm>
            <a:off x="1100000" y="4770000"/>
            <a:ext cx="6944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i="0" u="none" strike="noStrike" cap="none" noProof="0" dirty="0">
                <a:solidFill>
                  <a:srgbClr val="0E172C"/>
                </a:solidFill>
                <a:latin typeface="Georgia"/>
                <a:ea typeface="Georgia"/>
                <a:cs typeface="Georgia"/>
                <a:sym typeface="Georgia"/>
              </a:rPr>
              <a:t>Custom Testing Panel</a:t>
            </a:r>
            <a:endParaRPr lang="en-GB" sz="1100" noProof="0" dirty="0"/>
          </a:p>
        </p:txBody>
      </p:sp>
      <p:pic>
        <p:nvPicPr>
          <p:cNvPr id="6" name="image39">
            <a:hlinkClick r:id="" action="ppaction://media"/>
            <a:extLst>
              <a:ext uri="{FF2B5EF4-FFF2-40B4-BE49-F238E27FC236}">
                <a16:creationId xmlns:a16="http://schemas.microsoft.com/office/drawing/2014/main" id="{5219CAD2-0BAF-EA2E-2CC5-6AE1B891AEB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200000" y="950000"/>
            <a:ext cx="6744000" cy="37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3852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20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video>
              <p:cMediaNode vol="80000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9">
          <a:extLst>
            <a:ext uri="{FF2B5EF4-FFF2-40B4-BE49-F238E27FC236}">
              <a16:creationId xmlns:a16="http://schemas.microsoft.com/office/drawing/2014/main" id="{45D1A492-8F5E-A0D6-F712-8FB8D79B7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37">
            <a:extLst>
              <a:ext uri="{FF2B5EF4-FFF2-40B4-BE49-F238E27FC236}">
                <a16:creationId xmlns:a16="http://schemas.microsoft.com/office/drawing/2014/main" id="{4D17B748-5B86-9C66-792A-1F300682B5AE}"/>
              </a:ext>
            </a:extLst>
          </p:cNvPr>
          <p:cNvSpPr/>
          <p:nvPr/>
        </p:nvSpPr>
        <p:spPr>
          <a:xfrm>
            <a:off x="0" y="0"/>
            <a:ext cx="9144002" cy="5143500"/>
          </a:xfrm>
          <a:prstGeom prst="rect">
            <a:avLst/>
          </a:prstGeom>
          <a:solidFill>
            <a:srgbClr val="FEC7D7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sz="14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11" name="Google Shape;511;p37" descr="A high-quality, subtle texture of vintage, hand-made sketchbook paper with slight grain and organic imperfections.">
            <a:extLst>
              <a:ext uri="{FF2B5EF4-FFF2-40B4-BE49-F238E27FC236}">
                <a16:creationId xmlns:a16="http://schemas.microsoft.com/office/drawing/2014/main" id="{A3A13097-AB56-03B0-19F4-6583573084E0}"/>
              </a:ext>
            </a:extLst>
          </p:cNvPr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12" name="Google Shape;512;p37">
            <a:extLst>
              <a:ext uri="{FF2B5EF4-FFF2-40B4-BE49-F238E27FC236}">
                <a16:creationId xmlns:a16="http://schemas.microsoft.com/office/drawing/2014/main" id="{CF71DC58-92CB-9330-FFD4-432A463D051D}"/>
              </a:ext>
            </a:extLst>
          </p:cNvPr>
          <p:cNvSpPr txBox="1"/>
          <p:nvPr/>
        </p:nvSpPr>
        <p:spPr>
          <a:xfrm>
            <a:off x="342986" y="480060"/>
            <a:ext cx="6173744" cy="377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 b="1" i="0" u="none" strike="noStrike" cap="none" noProof="0" dirty="0">
                <a:solidFill>
                  <a:srgbClr val="0E172C"/>
                </a:solidFill>
                <a:latin typeface="Georgia"/>
                <a:ea typeface="Georgia"/>
                <a:cs typeface="Georgia"/>
                <a:sym typeface="Georgia"/>
              </a:rPr>
              <a:t>How we built it together</a:t>
            </a:r>
            <a:endParaRPr lang="en-GB" sz="1100" noProof="0" dirty="0"/>
          </a:p>
        </p:txBody>
      </p:sp>
      <p:sp>
        <p:nvSpPr>
          <p:cNvPr id="526" name="Google Shape;526;p37">
            <a:extLst>
              <a:ext uri="{FF2B5EF4-FFF2-40B4-BE49-F238E27FC236}">
                <a16:creationId xmlns:a16="http://schemas.microsoft.com/office/drawing/2014/main" id="{1BE85FAE-DB66-FD28-708A-A758F927D487}"/>
              </a:ext>
            </a:extLst>
          </p:cNvPr>
          <p:cNvSpPr/>
          <p:nvPr/>
        </p:nvSpPr>
        <p:spPr>
          <a:xfrm>
            <a:off x="948356" y="920486"/>
            <a:ext cx="6839000" cy="3949514"/>
          </a:xfrm>
          <a:prstGeom prst="rect">
            <a:avLst/>
          </a:prstGeom>
          <a:solidFill>
            <a:srgbClr val="F9F8FC"/>
          </a:solidFill>
          <a:ln w="19050" cap="flat" cmpd="sng">
            <a:solidFill>
              <a:srgbClr val="0E172C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sz="14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37">
            <a:extLst>
              <a:ext uri="{FF2B5EF4-FFF2-40B4-BE49-F238E27FC236}">
                <a16:creationId xmlns:a16="http://schemas.microsoft.com/office/drawing/2014/main" id="{6CE03BFD-F06C-AE3E-9D55-A3EBECD3D510}"/>
              </a:ext>
            </a:extLst>
          </p:cNvPr>
          <p:cNvSpPr txBox="1"/>
          <p:nvPr/>
        </p:nvSpPr>
        <p:spPr>
          <a:xfrm>
            <a:off x="950100" y="4870000"/>
            <a:ext cx="6944000" cy="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i="0" u="none" strike="noStrike" cap="none" noProof="0" dirty="0">
                <a:solidFill>
                  <a:srgbClr val="0E172C"/>
                </a:solidFill>
                <a:latin typeface="Georgia"/>
                <a:ea typeface="Georgia"/>
                <a:cs typeface="Georgia"/>
                <a:sym typeface="Georgia"/>
              </a:rPr>
              <a:t>Jira Kanban — Sprint Planning</a:t>
            </a:r>
            <a:endParaRPr lang="en-GB" sz="1100" noProof="0" dirty="0"/>
          </a:p>
        </p:txBody>
      </p:sp>
      <p:grpSp>
        <p:nvGrpSpPr>
          <p:cNvPr id="538" name="Google Shape;538;p37">
            <a:extLst>
              <a:ext uri="{FF2B5EF4-FFF2-40B4-BE49-F238E27FC236}">
                <a16:creationId xmlns:a16="http://schemas.microsoft.com/office/drawing/2014/main" id="{C3C3C942-FD37-E396-FEAD-0C4AA9E181A9}"/>
              </a:ext>
            </a:extLst>
          </p:cNvPr>
          <p:cNvGrpSpPr/>
          <p:nvPr/>
        </p:nvGrpSpPr>
        <p:grpSpPr>
          <a:xfrm>
            <a:off x="445875" y="178625"/>
            <a:ext cx="1266900" cy="238200"/>
            <a:chOff x="445875" y="178625"/>
            <a:chExt cx="1266900" cy="238200"/>
          </a:xfrm>
        </p:grpSpPr>
        <p:pic>
          <p:nvPicPr>
            <p:cNvPr id="539" name="Google Shape;539;p37">
              <a:extLst>
                <a:ext uri="{FF2B5EF4-FFF2-40B4-BE49-F238E27FC236}">
                  <a16:creationId xmlns:a16="http://schemas.microsoft.com/office/drawing/2014/main" id="{6435A8A7-BEAD-83FD-E544-DC579856AE8D}"/>
                </a:ext>
              </a:extLst>
            </p:cNvPr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445875" y="178625"/>
              <a:ext cx="1266900" cy="238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0" name="Google Shape;540;p37">
              <a:extLst>
                <a:ext uri="{FF2B5EF4-FFF2-40B4-BE49-F238E27FC236}">
                  <a16:creationId xmlns:a16="http://schemas.microsoft.com/office/drawing/2014/main" id="{69808DE8-FC8D-1875-B231-FF9B42E8967C}"/>
                </a:ext>
              </a:extLst>
            </p:cNvPr>
            <p:cNvSpPr txBox="1"/>
            <p:nvPr/>
          </p:nvSpPr>
          <p:spPr>
            <a:xfrm>
              <a:off x="507825" y="192875"/>
              <a:ext cx="11430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 b="1" noProof="0" dirty="0">
                  <a:solidFill>
                    <a:srgbClr val="0E172C"/>
                  </a:solidFill>
                  <a:latin typeface="Georgia"/>
                  <a:ea typeface="Georgia"/>
                  <a:cs typeface="Georgia"/>
                  <a:sym typeface="Georgia"/>
                </a:rPr>
                <a:t>Process &amp; Teamwork</a:t>
              </a:r>
            </a:p>
          </p:txBody>
        </p:sp>
      </p:grpSp>
      <p:pic>
        <p:nvPicPr>
          <p:cNvPr id="541" name="Google Shape;541;p37">
            <a:extLst>
              <a:ext uri="{FF2B5EF4-FFF2-40B4-BE49-F238E27FC236}">
                <a16:creationId xmlns:a16="http://schemas.microsoft.com/office/drawing/2014/main" id="{20B4B968-317C-83B7-71EE-DFFD8E0AAC0F}"/>
              </a:ext>
            </a:extLst>
          </p:cNvPr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953500" y="176213"/>
            <a:ext cx="52500" cy="479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5F28132-8709-BFC2-3F69-335D0181AA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1098" y="1034320"/>
            <a:ext cx="6516317" cy="3747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5578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9">
          <a:extLst>
            <a:ext uri="{FF2B5EF4-FFF2-40B4-BE49-F238E27FC236}">
              <a16:creationId xmlns:a16="http://schemas.microsoft.com/office/drawing/2014/main" id="{45D1A492-8F5E-A0D6-F712-8FB8D79B7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37">
            <a:extLst>
              <a:ext uri="{FF2B5EF4-FFF2-40B4-BE49-F238E27FC236}">
                <a16:creationId xmlns:a16="http://schemas.microsoft.com/office/drawing/2014/main" id="{4D17B748-5B86-9C66-792A-1F300682B5AE}"/>
              </a:ext>
            </a:extLst>
          </p:cNvPr>
          <p:cNvSpPr/>
          <p:nvPr/>
        </p:nvSpPr>
        <p:spPr>
          <a:xfrm>
            <a:off x="0" y="0"/>
            <a:ext cx="9144002" cy="5143500"/>
          </a:xfrm>
          <a:prstGeom prst="rect">
            <a:avLst/>
          </a:prstGeom>
          <a:solidFill>
            <a:srgbClr val="FEC7D7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sz="14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11" name="Google Shape;511;p37" descr="A high-quality, subtle texture of vintage, hand-made sketchbook paper with slight grain and organic imperfections.">
            <a:extLst>
              <a:ext uri="{FF2B5EF4-FFF2-40B4-BE49-F238E27FC236}">
                <a16:creationId xmlns:a16="http://schemas.microsoft.com/office/drawing/2014/main" id="{A3A13097-AB56-03B0-19F4-6583573084E0}"/>
              </a:ext>
            </a:extLst>
          </p:cNvPr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12" name="Google Shape;512;p37">
            <a:extLst>
              <a:ext uri="{FF2B5EF4-FFF2-40B4-BE49-F238E27FC236}">
                <a16:creationId xmlns:a16="http://schemas.microsoft.com/office/drawing/2014/main" id="{CF71DC58-92CB-9330-FFD4-432A463D051D}"/>
              </a:ext>
            </a:extLst>
          </p:cNvPr>
          <p:cNvSpPr txBox="1"/>
          <p:nvPr/>
        </p:nvSpPr>
        <p:spPr>
          <a:xfrm>
            <a:off x="342986" y="480060"/>
            <a:ext cx="6173744" cy="377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 b="1" i="0" u="none" strike="noStrike" cap="none" noProof="0" dirty="0">
                <a:solidFill>
                  <a:srgbClr val="0E172C"/>
                </a:solidFill>
                <a:latin typeface="Georgia"/>
                <a:ea typeface="Georgia"/>
                <a:cs typeface="Georgia"/>
                <a:sym typeface="Georgia"/>
              </a:rPr>
              <a:t>How we built it together</a:t>
            </a:r>
            <a:endParaRPr lang="en-GB" sz="1100" noProof="0" dirty="0"/>
          </a:p>
        </p:txBody>
      </p:sp>
      <p:sp>
        <p:nvSpPr>
          <p:cNvPr id="529" name="Google Shape;529;p37">
            <a:extLst>
              <a:ext uri="{FF2B5EF4-FFF2-40B4-BE49-F238E27FC236}">
                <a16:creationId xmlns:a16="http://schemas.microsoft.com/office/drawing/2014/main" id="{1B375FB6-79B1-0004-60F6-3A60E957CC32}"/>
              </a:ext>
            </a:extLst>
          </p:cNvPr>
          <p:cNvSpPr/>
          <p:nvPr/>
        </p:nvSpPr>
        <p:spPr>
          <a:xfrm>
            <a:off x="1009568" y="940432"/>
            <a:ext cx="6944000" cy="3950000"/>
          </a:xfrm>
          <a:prstGeom prst="rect">
            <a:avLst/>
          </a:prstGeom>
          <a:solidFill>
            <a:srgbClr val="F9F8FC"/>
          </a:solidFill>
          <a:ln w="19050" cap="flat" cmpd="sng">
            <a:solidFill>
              <a:srgbClr val="0E172C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sz="14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38" name="Google Shape;538;p37">
            <a:extLst>
              <a:ext uri="{FF2B5EF4-FFF2-40B4-BE49-F238E27FC236}">
                <a16:creationId xmlns:a16="http://schemas.microsoft.com/office/drawing/2014/main" id="{C3C3C942-FD37-E396-FEAD-0C4AA9E181A9}"/>
              </a:ext>
            </a:extLst>
          </p:cNvPr>
          <p:cNvGrpSpPr/>
          <p:nvPr/>
        </p:nvGrpSpPr>
        <p:grpSpPr>
          <a:xfrm>
            <a:off x="445875" y="178625"/>
            <a:ext cx="1266900" cy="238200"/>
            <a:chOff x="445875" y="178625"/>
            <a:chExt cx="1266900" cy="238200"/>
          </a:xfrm>
        </p:grpSpPr>
        <p:pic>
          <p:nvPicPr>
            <p:cNvPr id="539" name="Google Shape;539;p37">
              <a:extLst>
                <a:ext uri="{FF2B5EF4-FFF2-40B4-BE49-F238E27FC236}">
                  <a16:creationId xmlns:a16="http://schemas.microsoft.com/office/drawing/2014/main" id="{6435A8A7-BEAD-83FD-E544-DC579856AE8D}"/>
                </a:ext>
              </a:extLst>
            </p:cNvPr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445875" y="178625"/>
              <a:ext cx="1266900" cy="238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0" name="Google Shape;540;p37">
              <a:extLst>
                <a:ext uri="{FF2B5EF4-FFF2-40B4-BE49-F238E27FC236}">
                  <a16:creationId xmlns:a16="http://schemas.microsoft.com/office/drawing/2014/main" id="{69808DE8-FC8D-1875-B231-FF9B42E8967C}"/>
                </a:ext>
              </a:extLst>
            </p:cNvPr>
            <p:cNvSpPr txBox="1"/>
            <p:nvPr/>
          </p:nvSpPr>
          <p:spPr>
            <a:xfrm>
              <a:off x="507825" y="192875"/>
              <a:ext cx="11430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 b="1" noProof="0" dirty="0">
                  <a:solidFill>
                    <a:srgbClr val="0E172C"/>
                  </a:solidFill>
                  <a:latin typeface="Georgia"/>
                  <a:ea typeface="Georgia"/>
                  <a:cs typeface="Georgia"/>
                  <a:sym typeface="Georgia"/>
                </a:rPr>
                <a:t>Process &amp; Teamwork</a:t>
              </a:r>
            </a:p>
          </p:txBody>
        </p:sp>
      </p:grpSp>
      <p:pic>
        <p:nvPicPr>
          <p:cNvPr id="541" name="Google Shape;541;p37">
            <a:extLst>
              <a:ext uri="{FF2B5EF4-FFF2-40B4-BE49-F238E27FC236}">
                <a16:creationId xmlns:a16="http://schemas.microsoft.com/office/drawing/2014/main" id="{20B4B968-317C-83B7-71EE-DFFD8E0AAC0F}"/>
              </a:ext>
            </a:extLst>
          </p:cNvPr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953500" y="176213"/>
            <a:ext cx="52500" cy="4795800"/>
          </a:xfrm>
          <a:prstGeom prst="rect">
            <a:avLst/>
          </a:prstGeom>
          <a:noFill/>
          <a:ln>
            <a:noFill/>
          </a:ln>
        </p:spPr>
      </p:pic>
      <p:sp>
        <p:nvSpPr>
          <p:cNvPr id="531" name="Google Shape;531;p37">
            <a:extLst>
              <a:ext uri="{FF2B5EF4-FFF2-40B4-BE49-F238E27FC236}">
                <a16:creationId xmlns:a16="http://schemas.microsoft.com/office/drawing/2014/main" id="{F659225F-1F03-DD00-7833-9043D975143F}"/>
              </a:ext>
            </a:extLst>
          </p:cNvPr>
          <p:cNvSpPr txBox="1"/>
          <p:nvPr/>
        </p:nvSpPr>
        <p:spPr>
          <a:xfrm>
            <a:off x="1100000" y="4870000"/>
            <a:ext cx="6944000" cy="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i="0" u="none" strike="noStrike" cap="none" noProof="0" dirty="0">
                <a:solidFill>
                  <a:srgbClr val="0E172C"/>
                </a:solidFill>
                <a:latin typeface="Georgia"/>
                <a:ea typeface="Georgia"/>
                <a:cs typeface="Georgia"/>
                <a:sym typeface="Georgia"/>
              </a:rPr>
              <a:t>GitHub Contributions</a:t>
            </a:r>
            <a:endParaRPr lang="en-GB" sz="1100" noProof="0" dirty="0"/>
          </a:p>
        </p:txBody>
      </p:sp>
      <p:sp>
        <p:nvSpPr>
          <p:cNvPr id="3" name="AutoShape 4" descr="GitHub contribution summary showing all four active authors">
            <a:extLst>
              <a:ext uri="{FF2B5EF4-FFF2-40B4-BE49-F238E27FC236}">
                <a16:creationId xmlns:a16="http://schemas.microsoft.com/office/drawing/2014/main" id="{8567BFF0-E12A-4A79-2347-74B78458197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2EF29DB-F885-76DA-1B6D-A830847AAF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76120" y="980628"/>
            <a:ext cx="4886960" cy="3806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5578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38"/>
          <p:cNvSpPr/>
          <p:nvPr/>
        </p:nvSpPr>
        <p:spPr>
          <a:xfrm>
            <a:off x="0" y="0"/>
            <a:ext cx="9144002" cy="5143500"/>
          </a:xfrm>
          <a:prstGeom prst="rect">
            <a:avLst/>
          </a:prstGeom>
          <a:solidFill>
            <a:srgbClr val="0E172C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sz="14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47" name="Google Shape;547;p38" descr="A high-quality, subtle texture of vintage, hand-made sketchbook paper with slight grain and organic imperfections.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48" name="Google Shape;548;p38"/>
          <p:cNvSpPr/>
          <p:nvPr/>
        </p:nvSpPr>
        <p:spPr>
          <a:xfrm>
            <a:off x="0" y="0"/>
            <a:ext cx="123475" cy="5143500"/>
          </a:xfrm>
          <a:prstGeom prst="rect">
            <a:avLst/>
          </a:prstGeom>
          <a:solidFill>
            <a:srgbClr val="FEC7D7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sz="14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38"/>
          <p:cNvSpPr txBox="1"/>
          <p:nvPr/>
        </p:nvSpPr>
        <p:spPr>
          <a:xfrm>
            <a:off x="342986" y="342900"/>
            <a:ext cx="3429858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0" b="1" i="0" u="none" strike="noStrike" cap="none" noProof="0" dirty="0">
                <a:solidFill>
                  <a:srgbClr val="1E2A4A"/>
                </a:solidFill>
                <a:latin typeface="Georgia"/>
                <a:ea typeface="Georgia"/>
                <a:cs typeface="Georgia"/>
                <a:sym typeface="Georgia"/>
              </a:rPr>
              <a:t>05</a:t>
            </a:r>
            <a:endParaRPr lang="en-GB" sz="1100" noProof="0" dirty="0"/>
          </a:p>
        </p:txBody>
      </p:sp>
      <p:sp>
        <p:nvSpPr>
          <p:cNvPr id="550" name="Google Shape;550;p38"/>
          <p:cNvSpPr txBox="1"/>
          <p:nvPr/>
        </p:nvSpPr>
        <p:spPr>
          <a:xfrm>
            <a:off x="480180" y="1920240"/>
            <a:ext cx="7888673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400" b="1" i="0" u="none" strike="noStrike" cap="none" noProof="0" dirty="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Future Work</a:t>
            </a:r>
            <a:endParaRPr lang="en-GB" sz="1100" noProof="0" dirty="0"/>
          </a:p>
        </p:txBody>
      </p:sp>
      <p:sp>
        <p:nvSpPr>
          <p:cNvPr id="551" name="Google Shape;551;p38"/>
          <p:cNvSpPr txBox="1"/>
          <p:nvPr/>
        </p:nvSpPr>
        <p:spPr>
          <a:xfrm>
            <a:off x="480180" y="3223260"/>
            <a:ext cx="6859716" cy="48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b="0" i="1" u="none" strike="noStrike" cap="none" noProof="0" dirty="0">
                <a:solidFill>
                  <a:srgbClr val="A786DF"/>
                </a:solidFill>
                <a:latin typeface="Georgia"/>
                <a:ea typeface="Georgia"/>
                <a:cs typeface="Georgia"/>
                <a:sym typeface="Georgia"/>
              </a:rPr>
              <a:t>What comes next for Park Street Survivor</a:t>
            </a:r>
            <a:endParaRPr lang="en-GB" sz="1100" noProof="0" dirty="0"/>
          </a:p>
        </p:txBody>
      </p:sp>
      <p:sp>
        <p:nvSpPr>
          <p:cNvPr id="552" name="Google Shape;552;p38"/>
          <p:cNvSpPr/>
          <p:nvPr/>
        </p:nvSpPr>
        <p:spPr>
          <a:xfrm>
            <a:off x="8094465" y="4457700"/>
            <a:ext cx="754569" cy="411480"/>
          </a:xfrm>
          <a:prstGeom prst="rect">
            <a:avLst/>
          </a:prstGeom>
          <a:solidFill>
            <a:srgbClr val="FEC7D7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sz="14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39"/>
          <p:cNvSpPr/>
          <p:nvPr/>
        </p:nvSpPr>
        <p:spPr>
          <a:xfrm>
            <a:off x="0" y="0"/>
            <a:ext cx="9144002" cy="5143500"/>
          </a:xfrm>
          <a:prstGeom prst="rect">
            <a:avLst/>
          </a:prstGeom>
          <a:solidFill>
            <a:srgbClr val="FEC7D7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sz="14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58" name="Google Shape;558;p39" descr="A high-quality, subtle texture of vintage, hand-made sketchbook paper with slight grain and organic imperfections.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59" name="Google Shape;559;p39"/>
          <p:cNvSpPr txBox="1"/>
          <p:nvPr/>
        </p:nvSpPr>
        <p:spPr>
          <a:xfrm>
            <a:off x="342986" y="480060"/>
            <a:ext cx="6173744" cy="377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 b="1" i="0" u="none" strike="noStrike" cap="none" noProof="0" dirty="0">
                <a:solidFill>
                  <a:srgbClr val="0E172C"/>
                </a:solidFill>
                <a:latin typeface="Georgia"/>
                <a:ea typeface="Georgia"/>
                <a:cs typeface="Georgia"/>
                <a:sym typeface="Georgia"/>
              </a:rPr>
              <a:t>What comes next</a:t>
            </a:r>
            <a:endParaRPr lang="en-GB" sz="1100" noProof="0" dirty="0"/>
          </a:p>
        </p:txBody>
      </p:sp>
      <p:sp>
        <p:nvSpPr>
          <p:cNvPr id="563" name="Google Shape;563;p39"/>
          <p:cNvSpPr/>
          <p:nvPr/>
        </p:nvSpPr>
        <p:spPr>
          <a:xfrm>
            <a:off x="445875" y="1062990"/>
            <a:ext cx="8038906" cy="1714500"/>
          </a:xfrm>
          <a:prstGeom prst="rect">
            <a:avLst/>
          </a:prstGeom>
          <a:solidFill>
            <a:srgbClr val="F9F8FC"/>
          </a:solidFill>
          <a:ln w="25400" cap="flat" cmpd="sng">
            <a:solidFill>
              <a:srgbClr val="0E172C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sz="14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39"/>
          <p:cNvSpPr txBox="1"/>
          <p:nvPr/>
        </p:nvSpPr>
        <p:spPr>
          <a:xfrm>
            <a:off x="548770" y="1131570"/>
            <a:ext cx="4582364" cy="24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1" i="0" u="none" strike="noStrike" cap="none" noProof="0" dirty="0">
                <a:solidFill>
                  <a:srgbClr val="0E172C"/>
                </a:solidFill>
                <a:latin typeface="Georgia"/>
                <a:ea typeface="Georgia"/>
                <a:cs typeface="Georgia"/>
                <a:sym typeface="Georgia"/>
              </a:rPr>
              <a:t>Sequel Vision</a:t>
            </a:r>
            <a:endParaRPr lang="en-GB" sz="1100" noProof="0" dirty="0"/>
          </a:p>
        </p:txBody>
      </p:sp>
      <p:sp>
        <p:nvSpPr>
          <p:cNvPr id="565" name="Google Shape;565;p39"/>
          <p:cNvSpPr txBox="1"/>
          <p:nvPr/>
        </p:nvSpPr>
        <p:spPr>
          <a:xfrm>
            <a:off x="548770" y="1405890"/>
            <a:ext cx="4582364" cy="1038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0" i="0" u="none" strike="noStrike" cap="none" noProof="0" dirty="0">
                <a:solidFill>
                  <a:srgbClr val="A786DF"/>
                </a:solidFill>
                <a:latin typeface="Georgia"/>
                <a:ea typeface="Georgia"/>
                <a:cs typeface="Georgia"/>
                <a:sym typeface="Georgia"/>
              </a:rPr>
              <a:t>✦  </a:t>
            </a:r>
            <a:r>
              <a:rPr lang="en-GB" sz="1050" b="0" i="0" u="none" strike="noStrike" cap="none" noProof="0" dirty="0">
                <a:solidFill>
                  <a:srgbClr val="0E172C"/>
                </a:solidFill>
                <a:latin typeface="Georgia"/>
                <a:ea typeface="Georgia"/>
                <a:cs typeface="Georgia"/>
                <a:sym typeface="Georgia"/>
              </a:rPr>
              <a:t>Expand to other Bristol landmarks (Harbourside, Clifton Bridge)</a:t>
            </a:r>
            <a:endParaRPr lang="en-GB" noProof="0"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0" i="0" u="none" strike="noStrike" cap="none" noProof="0" dirty="0">
                <a:solidFill>
                  <a:srgbClr val="A786DF"/>
                </a:solidFill>
                <a:latin typeface="Georgia"/>
                <a:ea typeface="Georgia"/>
                <a:cs typeface="Georgia"/>
                <a:sym typeface="Georgia"/>
              </a:rPr>
              <a:t>✦  </a:t>
            </a:r>
            <a:r>
              <a:rPr lang="en-GB" sz="1050" b="0" i="0" u="none" strike="noStrike" cap="none" noProof="0" dirty="0">
                <a:solidFill>
                  <a:srgbClr val="0E172C"/>
                </a:solidFill>
                <a:latin typeface="Georgia"/>
                <a:ea typeface="Georgia"/>
                <a:cs typeface="Georgia"/>
                <a:sym typeface="Georgia"/>
              </a:rPr>
              <a:t>Multiplayer co-op survival mode</a:t>
            </a:r>
            <a:endParaRPr lang="en-GB" noProof="0"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0" i="0" u="none" strike="noStrike" cap="none" noProof="0" dirty="0">
                <a:solidFill>
                  <a:srgbClr val="A786DF"/>
                </a:solidFill>
                <a:latin typeface="Georgia"/>
                <a:ea typeface="Georgia"/>
                <a:cs typeface="Georgia"/>
                <a:sym typeface="Georgia"/>
              </a:rPr>
              <a:t>✦  </a:t>
            </a:r>
            <a:r>
              <a:rPr lang="en-GB" sz="1050" b="0" i="0" u="none" strike="noStrike" cap="none" noProof="0" dirty="0">
                <a:solidFill>
                  <a:srgbClr val="0E172C"/>
                </a:solidFill>
                <a:latin typeface="Georgia"/>
                <a:ea typeface="Georgia"/>
                <a:cs typeface="Georgia"/>
                <a:sym typeface="Georgia"/>
              </a:rPr>
              <a:t>Procedurally generated narrative events</a:t>
            </a:r>
            <a:endParaRPr lang="en-GB" noProof="0"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0" i="0" u="none" strike="noStrike" cap="none" noProof="0" dirty="0">
                <a:solidFill>
                  <a:srgbClr val="A786DF"/>
                </a:solidFill>
                <a:latin typeface="Georgia"/>
                <a:ea typeface="Georgia"/>
                <a:cs typeface="Georgia"/>
                <a:sym typeface="Georgia"/>
              </a:rPr>
              <a:t>✦  </a:t>
            </a:r>
            <a:r>
              <a:rPr lang="en-GB" sz="1050" b="0" i="0" u="none" strike="noStrike" cap="none" noProof="0" dirty="0">
                <a:solidFill>
                  <a:srgbClr val="0E172C"/>
                </a:solidFill>
                <a:latin typeface="Georgia"/>
                <a:ea typeface="Georgia"/>
                <a:cs typeface="Georgia"/>
                <a:sym typeface="Georgia"/>
              </a:rPr>
              <a:t>Dynamic weather &amp; seasonal Park Street variants</a:t>
            </a:r>
            <a:endParaRPr lang="en-GB" noProof="0" dirty="0"/>
          </a:p>
        </p:txBody>
      </p:sp>
      <p:sp>
        <p:nvSpPr>
          <p:cNvPr id="566" name="Google Shape;566;p39"/>
          <p:cNvSpPr txBox="1"/>
          <p:nvPr/>
        </p:nvSpPr>
        <p:spPr>
          <a:xfrm>
            <a:off x="1714929" y="3120390"/>
            <a:ext cx="5693564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 b="1" i="0" u="none" strike="noStrike" cap="none" noProof="0" dirty="0">
                <a:solidFill>
                  <a:srgbClr val="A786DF"/>
                </a:solidFill>
                <a:latin typeface="Georgia"/>
                <a:ea typeface="Georgia"/>
                <a:cs typeface="Georgia"/>
                <a:sym typeface="Georgia"/>
              </a:rPr>
              <a:t>Thank You!</a:t>
            </a:r>
            <a:endParaRPr lang="en-GB" sz="1100" noProof="0" dirty="0"/>
          </a:p>
        </p:txBody>
      </p:sp>
      <p:sp>
        <p:nvSpPr>
          <p:cNvPr id="567" name="Google Shape;567;p39"/>
          <p:cNvSpPr txBox="1"/>
          <p:nvPr/>
        </p:nvSpPr>
        <p:spPr>
          <a:xfrm>
            <a:off x="1714929" y="4046220"/>
            <a:ext cx="5693700" cy="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0" i="0" u="none" strike="noStrike" cap="none" noProof="0" dirty="0">
                <a:solidFill>
                  <a:srgbClr val="808099"/>
                </a:solidFill>
                <a:latin typeface="Georgia"/>
                <a:ea typeface="Georgia"/>
                <a:cs typeface="Georgia"/>
                <a:sym typeface="Georgia"/>
              </a:rPr>
              <a:t>2026-</a:t>
            </a:r>
            <a:r>
              <a:rPr lang="en-GB" sz="1000" noProof="0" dirty="0">
                <a:solidFill>
                  <a:srgbClr val="808099"/>
                </a:solidFill>
                <a:latin typeface="Georgia"/>
                <a:ea typeface="Georgia"/>
                <a:cs typeface="Georgia"/>
                <a:sym typeface="Georgia"/>
              </a:rPr>
              <a:t>G</a:t>
            </a:r>
            <a:r>
              <a:rPr lang="en-GB" sz="1000" b="0" i="0" u="none" strike="noStrike" cap="none" noProof="0" dirty="0">
                <a:solidFill>
                  <a:srgbClr val="808099"/>
                </a:solidFill>
                <a:latin typeface="Georgia"/>
                <a:ea typeface="Georgia"/>
                <a:cs typeface="Georgia"/>
                <a:sym typeface="Georgia"/>
              </a:rPr>
              <a:t>roup-7</a:t>
            </a:r>
            <a:r>
              <a:rPr lang="en-GB" sz="1000" noProof="0" dirty="0">
                <a:solidFill>
                  <a:srgbClr val="808099"/>
                </a:solidFill>
                <a:latin typeface="Georgia"/>
                <a:ea typeface="Georgia"/>
                <a:cs typeface="Georgia"/>
                <a:sym typeface="Georgia"/>
              </a:rPr>
              <a:t> Park Street Survivor</a:t>
            </a:r>
            <a:endParaRPr lang="en-GB" sz="1100" noProof="0" dirty="0"/>
          </a:p>
        </p:txBody>
      </p:sp>
      <p:grpSp>
        <p:nvGrpSpPr>
          <p:cNvPr id="568" name="Google Shape;568;p39"/>
          <p:cNvGrpSpPr/>
          <p:nvPr/>
        </p:nvGrpSpPr>
        <p:grpSpPr>
          <a:xfrm>
            <a:off x="445875" y="178625"/>
            <a:ext cx="1266900" cy="238200"/>
            <a:chOff x="445875" y="178625"/>
            <a:chExt cx="1266900" cy="238200"/>
          </a:xfrm>
        </p:grpSpPr>
        <p:pic>
          <p:nvPicPr>
            <p:cNvPr id="569" name="Google Shape;569;p39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445875" y="178625"/>
              <a:ext cx="1266900" cy="238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0" name="Google Shape;570;p39"/>
            <p:cNvSpPr txBox="1"/>
            <p:nvPr/>
          </p:nvSpPr>
          <p:spPr>
            <a:xfrm>
              <a:off x="507825" y="192875"/>
              <a:ext cx="11430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 b="1" noProof="0" dirty="0">
                  <a:solidFill>
                    <a:srgbClr val="0E172C"/>
                  </a:solidFill>
                  <a:latin typeface="Georgia"/>
                  <a:ea typeface="Georgia"/>
                  <a:cs typeface="Georgia"/>
                  <a:sym typeface="Georgia"/>
                </a:rPr>
                <a:t>Future Work</a:t>
              </a:r>
            </a:p>
          </p:txBody>
        </p:sp>
      </p:grpSp>
      <p:pic>
        <p:nvPicPr>
          <p:cNvPr id="571" name="Google Shape;571;p39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953500" y="176213"/>
            <a:ext cx="52500" cy="479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611</TotalTime>
  <Words>299</Words>
  <Application>Microsoft Macintosh PowerPoint</Application>
  <PresentationFormat>On-screen Show (16:9)</PresentationFormat>
  <Paragraphs>81</Paragraphs>
  <Slides>15</Slides>
  <Notes>14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Georgia</vt:lpstr>
      <vt:lpstr>Simple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Lucca Zhou</cp:lastModifiedBy>
  <cp:revision>59</cp:revision>
  <dcterms:modified xsi:type="dcterms:W3CDTF">2026-04-15T22:06:51Z</dcterms:modified>
</cp:coreProperties>
</file>